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title, team and guide.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OTFS works in the delay-Doppler domain; fast-moving users make the channel change rapidly.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Combined loss over 25 epochs (0-24).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true channel; middle: estimated; right: absolute error.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2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89320" y="822960"/>
            <a:ext cx="142464" cy="142464"/>
          </a:xfrm>
          <a:prstGeom prst="rect">
            <a:avLst/>
          </a:prstGeom>
          <a:solidFill>
            <a:srgbClr val="14A38B"/>
          </a:solidFill>
          <a:ln w="12700">
            <a:solidFill>
              <a:srgbClr val="14A38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63056" y="82296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336792" y="82296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10528" y="82296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84264" y="82296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0" y="82296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31736" y="82296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05472" y="82296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79208" y="82296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552944" y="82296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26680" y="82296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00416" y="82296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74152" y="82296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47888" y="82296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21624" y="82296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95360" y="82296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89320" y="996696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63056" y="996696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36792" y="996696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10528" y="996696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84264" y="996696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0" y="996696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31736" y="996696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05472" y="996696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79208" y="996696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552944" y="996696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26680" y="996696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900416" y="996696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74152" y="996696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47888" y="996696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421624" y="996696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595360" y="996696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989320" y="1170432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63056" y="1170432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36792" y="1170432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510528" y="1170432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684264" y="1170432"/>
            <a:ext cx="142464" cy="142464"/>
          </a:xfrm>
          <a:prstGeom prst="rect">
            <a:avLst/>
          </a:prstGeom>
          <a:solidFill>
            <a:srgbClr val="14A38B"/>
          </a:solidFill>
          <a:ln w="12700">
            <a:solidFill>
              <a:srgbClr val="14A38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858000" y="1170432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031736" y="1170432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205472" y="1170432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379208" y="1170432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552944" y="1170432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726680" y="1170432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900416" y="1170432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074152" y="1170432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247888" y="1170432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421624" y="1170432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595360" y="1170432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989320" y="1344168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163056" y="1344168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336792" y="1344168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510528" y="1344168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684264" y="1344168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858000" y="1344168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031736" y="1344168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205472" y="1344168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379208" y="1344168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552944" y="1344168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726680" y="1344168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900416" y="1344168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074152" y="1344168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247888" y="1344168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421624" y="1344168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595360" y="1344168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989320" y="1517904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163056" y="1517904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336792" y="1517904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510528" y="1517904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684264" y="1517904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858000" y="1517904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031736" y="1517904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205472" y="1517904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379208" y="1517904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552944" y="1517904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726680" y="1517904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900416" y="1517904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074152" y="1517904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247888" y="1517904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421624" y="1517904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595360" y="1517904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989320" y="169164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163056" y="169164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6336792" y="169164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510528" y="169164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684264" y="169164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858000" y="169164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7031736" y="169164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7205472" y="169164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379208" y="169164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552944" y="169164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726680" y="169164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900416" y="169164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8074152" y="169164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8247888" y="169164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8421624" y="169164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8595360" y="169164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5989320" y="1865376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163056" y="1865376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6336792" y="1865376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6510528" y="1865376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6684264" y="1865376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6858000" y="1865376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7031736" y="1865376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7205472" y="1865376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7379208" y="1865376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7552944" y="1865376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726680" y="1865376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7900416" y="1865376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8074152" y="1865376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8247888" y="1865376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8421624" y="1865376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8595360" y="1865376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5989320" y="2039112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6163056" y="2039112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6336792" y="2039112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6510528" y="2039112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6684264" y="2039112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6858000" y="2039112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7031736" y="2039112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7205472" y="2039112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7379208" y="2039112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7552944" y="2039112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7726680" y="2039112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7900416" y="2039112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8074152" y="2039112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8247888" y="2039112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8421624" y="2039112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8595360" y="2039112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5989320" y="2212848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6163056" y="2212848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6336792" y="2212848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6510528" y="2212848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6684264" y="2212848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6858000" y="2212848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7031736" y="2212848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7205472" y="2212848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7379208" y="2212848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7552944" y="2212848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7726680" y="2212848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7900416" y="2212848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8074152" y="2212848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8247888" y="2212848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8421624" y="2212848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8595360" y="2212848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5989320" y="2386584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6163056" y="2386584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6336792" y="2386584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6510528" y="2386584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6684264" y="2386584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6858000" y="2386584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7031736" y="2386584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7205472" y="2386584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7379208" y="2386584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7552944" y="2386584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7726680" y="2386584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7900416" y="2386584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8074152" y="2386584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8247888" y="2386584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8421624" y="2386584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8595360" y="2386584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5989320" y="256032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6163056" y="256032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6336792" y="256032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6510528" y="256032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6684264" y="256032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6858000" y="256032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7031736" y="256032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7205472" y="256032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7379208" y="256032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7552944" y="256032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7726680" y="256032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7900416" y="256032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8074152" y="256032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8247888" y="256032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8421624" y="256032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8595360" y="256032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5989320" y="2734056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6163056" y="2734056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6336792" y="2734056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6510528" y="2734056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6684264" y="2734056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6858000" y="2734056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7031736" y="2734056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7205472" y="2734056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7379208" y="2734056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7552944" y="2734056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7726680" y="2734056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7900416" y="2734056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8074152" y="2734056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8247888" y="2734056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8421624" y="2734056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8595360" y="2734056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5989320" y="2907792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6163056" y="2907792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6336792" y="2907792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6510528" y="2907792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6684264" y="2907792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6858000" y="2907792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7031736" y="2907792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7205472" y="2907792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7379208" y="2907792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7552944" y="2907792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7726680" y="2907792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7900416" y="2907792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8074152" y="2907792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8247888" y="2907792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8421624" y="2907792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8595360" y="2907792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5989320" y="3081528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6163056" y="3081528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6336792" y="3081528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6510528" y="3081528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6684264" y="3081528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6858000" y="3081528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7031736" y="3081528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7205472" y="3081528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7379208" y="3081528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7552944" y="3081528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7726680" y="3081528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7900416" y="3081528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8074152" y="3081528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8247888" y="3081528"/>
            <a:ext cx="142464" cy="142464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8421624" y="3081528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8595360" y="3081528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5989320" y="3255264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6163056" y="3255264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6336792" y="3255264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6510528" y="3255264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6684264" y="3255264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6858000" y="3255264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7031736" y="3255264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7205472" y="3255264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7379208" y="3255264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7552944" y="3255264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7726680" y="3255264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7900416" y="3255264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8074152" y="3255264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8247888" y="3255264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8421624" y="3255264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8595360" y="3255264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5989320" y="342900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6163056" y="342900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6336792" y="342900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6510528" y="342900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6684264" y="342900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6858000" y="342900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7031736" y="342900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7205472" y="342900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7379208" y="342900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7552944" y="342900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7726680" y="342900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7900416" y="3429000"/>
            <a:ext cx="142464" cy="142464"/>
          </a:xfrm>
          <a:prstGeom prst="rect">
            <a:avLst/>
          </a:prstGeom>
          <a:solidFill>
            <a:srgbClr val="F26B5B"/>
          </a:solidFill>
          <a:ln w="12700">
            <a:solidFill>
              <a:srgbClr val="F26B5B"/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8074152" y="342900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8247888" y="342900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8421624" y="342900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8595360" y="342900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58" name="Text 256"/>
          <p:cNvSpPr txBox="1"/>
          <p:nvPr/>
        </p:nvSpPr>
        <p:spPr>
          <a:xfrm>
            <a:off x="548640" y="5029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A38B"/>
                </a:solidFill>
              </a:rPr>
              <a:t>MACHINE LEARNING  |  25SC2107E  |  ACADEMIC YEAR 2026-27</a:t>
            </a:r>
            <a:endParaRPr lang="en-US" sz="1100" dirty="0"/>
          </a:p>
        </p:txBody>
      </p:sp>
      <p:sp>
        <p:nvSpPr>
          <p:cNvPr id="259" name="Text 257"/>
          <p:cNvSpPr txBox="1"/>
          <p:nvPr/>
        </p:nvSpPr>
        <p:spPr>
          <a:xfrm>
            <a:off x="548640" y="914400"/>
            <a:ext cx="5120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</a:rPr>
              <a:t>Multi-Task CNN-Transformer for Joint OTFS Channel Estimation and Doppler-Sensing Prediction</a:t>
            </a:r>
            <a:endParaRPr lang="en-US" sz="2900" dirty="0"/>
          </a:p>
        </p:txBody>
      </p:sp>
      <p:sp>
        <p:nvSpPr>
          <p:cNvPr id="260" name="Text 258"/>
          <p:cNvSpPr txBox="1"/>
          <p:nvPr/>
        </p:nvSpPr>
        <p:spPr>
          <a:xfrm>
            <a:off x="548640" y="32461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Srikar Prathap</a:t>
            </a:r>
            <a:endParaRPr lang="en-US" sz="1400" dirty="0"/>
          </a:p>
        </p:txBody>
      </p:sp>
      <p:sp>
        <p:nvSpPr>
          <p:cNvPr id="261" name="Text 259"/>
          <p:cNvSpPr txBox="1"/>
          <p:nvPr/>
        </p:nvSpPr>
        <p:spPr>
          <a:xfrm>
            <a:off x="548640" y="352044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7C0"/>
                </a:solidFill>
              </a:rPr>
              <a:t>2520040006</a:t>
            </a:r>
            <a:endParaRPr lang="en-US" sz="1200" dirty="0"/>
          </a:p>
        </p:txBody>
      </p:sp>
      <p:sp>
        <p:nvSpPr>
          <p:cNvPr id="262" name="Text 260"/>
          <p:cNvSpPr txBox="1"/>
          <p:nvPr/>
        </p:nvSpPr>
        <p:spPr>
          <a:xfrm>
            <a:off x="2377440" y="32461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Dakshesh Kumar</a:t>
            </a:r>
            <a:endParaRPr lang="en-US" sz="1400" dirty="0"/>
          </a:p>
        </p:txBody>
      </p:sp>
      <p:sp>
        <p:nvSpPr>
          <p:cNvPr id="263" name="Text 261"/>
          <p:cNvSpPr txBox="1"/>
          <p:nvPr/>
        </p:nvSpPr>
        <p:spPr>
          <a:xfrm>
            <a:off x="2377440" y="352044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7C0"/>
                </a:solidFill>
              </a:rPr>
              <a:t>2520040060</a:t>
            </a:r>
            <a:endParaRPr lang="en-US" sz="1200" dirty="0"/>
          </a:p>
        </p:txBody>
      </p:sp>
      <p:sp>
        <p:nvSpPr>
          <p:cNvPr id="264" name="Text 262"/>
          <p:cNvSpPr txBox="1"/>
          <p:nvPr/>
        </p:nvSpPr>
        <p:spPr>
          <a:xfrm>
            <a:off x="4206240" y="32461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Dhanush Karthikeya</a:t>
            </a:r>
            <a:endParaRPr lang="en-US" sz="1400" dirty="0"/>
          </a:p>
        </p:txBody>
      </p:sp>
      <p:sp>
        <p:nvSpPr>
          <p:cNvPr id="265" name="Text 263"/>
          <p:cNvSpPr txBox="1"/>
          <p:nvPr/>
        </p:nvSpPr>
        <p:spPr>
          <a:xfrm>
            <a:off x="4206240" y="352044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7C0"/>
                </a:solidFill>
              </a:rPr>
              <a:t>2520040032</a:t>
            </a:r>
            <a:endParaRPr lang="en-US" sz="1200" dirty="0"/>
          </a:p>
        </p:txBody>
      </p:sp>
      <p:sp>
        <p:nvSpPr>
          <p:cNvPr id="266" name="Text 264"/>
          <p:cNvSpPr txBox="1"/>
          <p:nvPr/>
        </p:nvSpPr>
        <p:spPr>
          <a:xfrm>
            <a:off x="548640" y="41605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7C0"/>
                </a:solidFill>
              </a:rPr>
              <a:t>Under the guidance of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Mr. N Lava Prasad</a:t>
            </a:r>
            <a:pPr indent="0" marL="0">
              <a:buNone/>
            </a:pPr>
            <a:r>
              <a:rPr lang="en-US" sz="1300" dirty="0">
                <a:solidFill>
                  <a:srgbClr val="9FC7C0"/>
                </a:solidFill>
              </a:rPr>
              <a:t>, Assistant Professor, Department of ECE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6B5B"/>
                </a:solidFill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B2A"/>
                </a:solidFill>
              </a:rPr>
              <a:t>Why High-Mobility Wireless Needs Smarter Receivers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270"/>
                </a:solidFill>
              </a:rPr>
              <a:t>Joint OTFS Channel Estimation &amp; Doppler Prediction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270"/>
                </a:solidFill>
              </a:rPr>
              <a:t>2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28016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2A"/>
                </a:solidFill>
              </a:rPr>
              <a:t>Orthogonal Time Frequency Space (OTFS) is a modulation technique built for high-mobility links. Vehicle motion, multipath propagation and Doppler shifts make the channel vary quickly, so the receiver must know the channel and the Doppler shift accurately.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2834640"/>
            <a:ext cx="3931920" cy="1645920"/>
          </a:xfrm>
          <a:prstGeom prst="roundRect">
            <a:avLst>
              <a:gd name="adj" fmla="val 5556"/>
            </a:avLst>
          </a:prstGeom>
          <a:solidFill>
            <a:srgbClr val="0F2D2B"/>
          </a:solidFill>
          <a:ln w="9525">
            <a:solidFill>
              <a:srgbClr val="0F2D2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2971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A38B"/>
                </a:solidFill>
              </a:rPr>
              <a:t>Our idea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329184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One shared CNN-Transformer learns channel features and solves both tasks together: channel estimation and Doppler prediction.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663440" y="1280160"/>
            <a:ext cx="192024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6E3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00600" y="1417320"/>
            <a:ext cx="502920" cy="502920"/>
          </a:xfrm>
          <a:prstGeom prst="ellipse">
            <a:avLst/>
          </a:prstGeom>
          <a:solidFill>
            <a:srgbClr val="14A38B"/>
          </a:solidFill>
          <a:ln w="12700">
            <a:solidFill>
              <a:srgbClr val="14A38B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10328" y="1527048"/>
            <a:ext cx="283464" cy="28346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800600" y="20116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2A"/>
                </a:solidFill>
              </a:rPr>
              <a:t>Autonomous vehicles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4800600" y="22860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7270"/>
                </a:solidFill>
              </a:rPr>
              <a:t>Reliable links under rapidly changing speeds.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720840" y="1280160"/>
            <a:ext cx="192024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6E3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858000" y="1417320"/>
            <a:ext cx="502920" cy="502920"/>
          </a:xfrm>
          <a:prstGeom prst="ellipse">
            <a:avLst/>
          </a:prstGeom>
          <a:solidFill>
            <a:srgbClr val="F26B5B"/>
          </a:solidFill>
          <a:ln w="12700">
            <a:solidFill>
              <a:srgbClr val="F26B5B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7728" y="1527048"/>
            <a:ext cx="283464" cy="28346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858000" y="20116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2A"/>
                </a:solidFill>
              </a:rPr>
              <a:t>Drones and UAVs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6858000" y="22860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7270"/>
                </a:solidFill>
              </a:rPr>
              <a:t>Communication during high-speed flight.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4663440" y="2926080"/>
            <a:ext cx="192024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6E3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800600" y="3063240"/>
            <a:ext cx="502920" cy="502920"/>
          </a:xfrm>
          <a:prstGeom prst="ellipse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0328" y="3172968"/>
            <a:ext cx="283464" cy="28346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4800600" y="36576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2A"/>
                </a:solidFill>
              </a:rPr>
              <a:t>High-speed trains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4800600" y="39319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7270"/>
                </a:solidFill>
              </a:rPr>
              <a:t>Estimation under large Doppler shifts.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6720840" y="2926080"/>
            <a:ext cx="192024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6E3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6858000" y="3063240"/>
            <a:ext cx="502920" cy="502920"/>
          </a:xfrm>
          <a:prstGeom prst="ellipse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7728" y="3172968"/>
            <a:ext cx="283464" cy="283464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6858000" y="36576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2A"/>
                </a:solidFill>
              </a:rPr>
              <a:t>5G and 6G networks</a:t>
            </a:r>
            <a:endParaRPr lang="en-US" sz="1400" dirty="0"/>
          </a:p>
        </p:txBody>
      </p:sp>
      <p:sp>
        <p:nvSpPr>
          <p:cNvPr id="30" name="Text 23"/>
          <p:cNvSpPr txBox="1"/>
          <p:nvPr/>
        </p:nvSpPr>
        <p:spPr>
          <a:xfrm>
            <a:off x="6858000" y="39319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7270"/>
                </a:solidFill>
              </a:rPr>
              <a:t>ML-based signal processing for future systems.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6B5B"/>
                </a:solidFill>
              </a:rPr>
              <a:t>PROBLEM STATEMENT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B2A"/>
                </a:solidFill>
              </a:rPr>
              <a:t>What We Set Out to Solve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270"/>
                </a:solidFill>
              </a:rPr>
              <a:t>Joint OTFS Channel Estimation &amp; Doppler Prediction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270"/>
                </a:solidFill>
              </a:rPr>
              <a:t>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023360" cy="3200400"/>
          </a:xfrm>
          <a:prstGeom prst="roundRect">
            <a:avLst>
              <a:gd name="adj" fmla="val 2857"/>
            </a:avLst>
          </a:prstGeom>
          <a:solidFill>
            <a:srgbClr val="0F2D2B"/>
          </a:solidFill>
          <a:ln w="9525">
            <a:solidFill>
              <a:srgbClr val="0F2D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A38B"/>
                </a:solidFill>
              </a:rPr>
              <a:t>PROBLEM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78308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Develop a machine-learning approach that jointly performs channel estimation and Doppler-sensing prediction from OTFS received-signal data.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2918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6B5B"/>
                </a:solidFill>
              </a:rPr>
              <a:t>Proposed solution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5661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5E8E4"/>
                </a:solidFill>
              </a:rPr>
              <a:t>A shared CNN-Transformer with two output heads.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54880" y="1280160"/>
            <a:ext cx="3931920" cy="713232"/>
          </a:xfrm>
          <a:prstGeom prst="roundRect">
            <a:avLst>
              <a:gd name="adj" fmla="val 12821"/>
            </a:avLst>
          </a:prstGeom>
          <a:solidFill>
            <a:srgbClr val="F1F7F5"/>
          </a:solidFill>
          <a:ln w="9525">
            <a:solidFill>
              <a:srgbClr val="F1F7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92040" y="1435608"/>
            <a:ext cx="402336" cy="402336"/>
          </a:xfrm>
          <a:prstGeom prst="ellipse">
            <a:avLst/>
          </a:prstGeom>
          <a:solidFill>
            <a:srgbClr val="14A38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92040" y="14356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440680" y="1335024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2A"/>
                </a:solidFill>
              </a:rPr>
              <a:t>Rapid channel variation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E7270"/>
                </a:solidFill>
              </a:rPr>
              <a:t>User mobility and multipath make the channel change quickly.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54880" y="2103120"/>
            <a:ext cx="3931920" cy="713232"/>
          </a:xfrm>
          <a:prstGeom prst="roundRect">
            <a:avLst>
              <a:gd name="adj" fmla="val 12821"/>
            </a:avLst>
          </a:prstGeom>
          <a:solidFill>
            <a:srgbClr val="F1F7F5"/>
          </a:solidFill>
          <a:ln w="9525">
            <a:solidFill>
              <a:srgbClr val="F1F7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92040" y="2258568"/>
            <a:ext cx="402336" cy="402336"/>
          </a:xfrm>
          <a:prstGeom prst="ellipse">
            <a:avLst/>
          </a:prstGeom>
          <a:solidFill>
            <a:srgbClr val="F26B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92040" y="22585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440680" y="2157984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2A"/>
                </a:solidFill>
              </a:rPr>
              <a:t>Noise and Doppler effects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E7270"/>
                </a:solidFill>
              </a:rPr>
              <a:t>Both make accurate channel estimation difficult.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54880" y="2926080"/>
            <a:ext cx="3931920" cy="713232"/>
          </a:xfrm>
          <a:prstGeom prst="roundRect">
            <a:avLst>
              <a:gd name="adj" fmla="val 12821"/>
            </a:avLst>
          </a:prstGeom>
          <a:solidFill>
            <a:srgbClr val="F1F7F5"/>
          </a:solidFill>
          <a:ln w="9525">
            <a:solidFill>
              <a:srgbClr val="F1F7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92040" y="3081528"/>
            <a:ext cx="402336" cy="402336"/>
          </a:xfrm>
          <a:prstGeom prst="ellipse">
            <a:avLst/>
          </a:prstGeom>
          <a:solidFill>
            <a:srgbClr val="6C5CE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92040" y="30815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440680" y="2980944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2A"/>
                </a:solidFill>
              </a:rPr>
              <a:t>Separate processing is costly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E7270"/>
                </a:solidFill>
              </a:rPr>
              <a:t>Doing the two tasks apart needs extra processing.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754880" y="3749040"/>
            <a:ext cx="3931920" cy="713232"/>
          </a:xfrm>
          <a:prstGeom prst="roundRect">
            <a:avLst>
              <a:gd name="adj" fmla="val 12821"/>
            </a:avLst>
          </a:prstGeom>
          <a:solidFill>
            <a:srgbClr val="F1F7F5"/>
          </a:solidFill>
          <a:ln w="9525">
            <a:solidFill>
              <a:srgbClr val="F1F7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92040" y="3904488"/>
            <a:ext cx="402336" cy="402336"/>
          </a:xfrm>
          <a:prstGeom prst="ellipse">
            <a:avLst/>
          </a:prstGeom>
          <a:solidFill>
            <a:srgbClr val="2B7A7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92040" y="3904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5440680" y="3803904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2A"/>
                </a:solidFill>
              </a:rPr>
              <a:t>Need for shared learning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E7270"/>
                </a:solidFill>
              </a:rPr>
              <a:t>A joint model can reuse features across both tasks.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6B5B"/>
                </a:solidFill>
              </a:rPr>
              <a:t>PROPOSED METHODOLOGY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B2A"/>
                </a:solidFill>
              </a:rPr>
              <a:t>A Joint CNN-Transformer Approach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270"/>
                </a:solidFill>
              </a:rPr>
              <a:t>Joint OTFS Channel Estimation &amp; Doppler Prediction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270"/>
                </a:solidFill>
              </a:rPr>
              <a:t>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34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2A"/>
                </a:solidFill>
              </a:rPr>
              <a:t>A CNN extracts local features from the delay-Doppler input; a Transformer encoder then learns how different delay-Doppler bins relate; one shared representation feeds both tasks.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D6E3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240280"/>
            <a:ext cx="457200" cy="457200"/>
          </a:xfrm>
          <a:prstGeom prst="ellipse">
            <a:avLst/>
          </a:prstGeom>
          <a:solidFill>
            <a:srgbClr val="14A38B"/>
          </a:solidFill>
          <a:ln w="12700">
            <a:solidFill>
              <a:srgbClr val="14A38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788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2A"/>
                </a:solidFill>
              </a:rPr>
              <a:t>CNN feature extraction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1089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7270"/>
                </a:solidFill>
              </a:rPr>
              <a:t>Finds local patterns in the received OTFS signal.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46120" y="205740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D6E3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29000" y="2240280"/>
            <a:ext cx="457200" cy="457200"/>
          </a:xfrm>
          <a:prstGeom prst="ellipse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42900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2788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2A"/>
                </a:solidFill>
              </a:rPr>
              <a:t>Transformer encoder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429000" y="31089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7270"/>
                </a:solidFill>
              </a:rPr>
              <a:t>Uses attention to learn long-range links between delay-Doppler bins.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35040" y="205740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D6E3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2240280"/>
            <a:ext cx="457200" cy="457200"/>
          </a:xfrm>
          <a:prstGeom prst="ellipse">
            <a:avLst/>
          </a:prstGeom>
          <a:solidFill>
            <a:srgbClr val="F26B5B"/>
          </a:solidFill>
          <a:ln w="12700">
            <a:solidFill>
              <a:srgbClr val="F26B5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1792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2788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2A"/>
                </a:solidFill>
              </a:rPr>
              <a:t>Multi-task learning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31089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7270"/>
                </a:solidFill>
              </a:rPr>
              <a:t>Shares one feature representation across both tasks.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977640"/>
            <a:ext cx="8229600" cy="502920"/>
          </a:xfrm>
          <a:prstGeom prst="roundRect">
            <a:avLst>
              <a:gd name="adj" fmla="val 18182"/>
            </a:avLst>
          </a:prstGeom>
          <a:solidFill>
            <a:srgbClr val="F1F7F5"/>
          </a:solidFill>
          <a:ln w="9525">
            <a:solidFill>
              <a:srgbClr val="F1F7F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" y="39776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2A"/>
                </a:solidFill>
              </a:rPr>
              <a:t>Joint prediction: channel response estimate plus Doppler-related outputs from the same backbone.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6B5B"/>
                </a:solidFill>
              </a:rPr>
              <a:t>ALGORITHM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B2A"/>
                </a:solidFill>
              </a:rPr>
              <a:t>Model Architecture and Training Pipeline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270"/>
                </a:solidFill>
              </a:rPr>
              <a:t>Joint OTFS Channel Estimation &amp; Doppler Prediction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270"/>
                </a:solidFill>
              </a:rPr>
              <a:t>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508760" cy="16002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6E3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66928" y="14173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A38B"/>
                </a:solidFill>
              </a:rPr>
              <a:t>STAGE 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66420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B2A"/>
                </a:solidFill>
              </a:rPr>
              <a:t>OTFS input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214884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7270"/>
                </a:solidFill>
              </a:rPr>
              <a:t>Delay-Doppler grid with real and imaginary parts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938528" y="18745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E7270"/>
                </a:solidFill>
              </a:rPr>
              <a:t>›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148840" y="1325880"/>
            <a:ext cx="1508760" cy="16002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6E3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2258568" y="14173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A38B"/>
                </a:solidFill>
              </a:rPr>
              <a:t>STAGE 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258568" y="166420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B2A"/>
                </a:solidFill>
              </a:rPr>
              <a:t>CNN encoder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258568" y="214884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7270"/>
                </a:solidFill>
              </a:rPr>
              <a:t>Convolutional layers extract local features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630168" y="18745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E7270"/>
                </a:solidFill>
              </a:rPr>
              <a:t>›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3840480" y="1325880"/>
            <a:ext cx="1508760" cy="16002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6E3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3950208" y="14173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A38B"/>
                </a:solidFill>
              </a:rPr>
              <a:t>STAGE 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950208" y="166420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B2A"/>
                </a:solidFill>
              </a:rPr>
              <a:t>Transformer encoder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950208" y="214884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7270"/>
                </a:solidFill>
              </a:rPr>
              <a:t>Feature tokens learn long-range dependencies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321808" y="18745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E7270"/>
                </a:solidFill>
              </a:rPr>
              <a:t>›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5532120" y="1325880"/>
            <a:ext cx="1508760" cy="16002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6E3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5641848" y="14173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A38B"/>
                </a:solidFill>
              </a:rPr>
              <a:t>STAGE 4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641848" y="166420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B2A"/>
                </a:solidFill>
              </a:rPr>
              <a:t>Shared features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641848" y="214884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7270"/>
                </a:solidFill>
              </a:rPr>
              <a:t>One representation for both tasks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013448" y="18745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E7270"/>
                </a:solidFill>
              </a:rPr>
              <a:t>›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7315200" y="1325880"/>
            <a:ext cx="1371600" cy="731520"/>
          </a:xfrm>
          <a:prstGeom prst="roundRect">
            <a:avLst>
              <a:gd name="adj" fmla="val 12500"/>
            </a:avLst>
          </a:prstGeom>
          <a:solidFill>
            <a:srgbClr val="14A38B"/>
          </a:solidFill>
          <a:ln w="9525">
            <a:solidFill>
              <a:srgbClr val="14A38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315200" y="13258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Channel head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315200" y="2194560"/>
            <a:ext cx="1371600" cy="731520"/>
          </a:xfrm>
          <a:prstGeom prst="roundRect">
            <a:avLst>
              <a:gd name="adj" fmla="val 12500"/>
            </a:avLst>
          </a:prstGeom>
          <a:solidFill>
            <a:srgbClr val="F26B5B"/>
          </a:solidFill>
          <a:ln w="9525">
            <a:solidFill>
              <a:srgbClr val="F26B5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315200" y="21945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Doppler head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7200" y="329184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F1F7F5"/>
          </a:solidFill>
          <a:ln w="9525">
            <a:solidFill>
              <a:srgbClr val="F1F7F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1792" y="3456432"/>
            <a:ext cx="201168" cy="201168"/>
          </a:xfrm>
          <a:prstGeom prst="ellipse">
            <a:avLst/>
          </a:prstGeom>
          <a:solidFill>
            <a:srgbClr val="14A38B"/>
          </a:solidFill>
          <a:ln w="12700">
            <a:solidFill>
              <a:srgbClr val="14A38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14400" y="340156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2A"/>
                </a:solidFill>
              </a:rPr>
              <a:t>Channel head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621792" y="376732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7270"/>
                </a:solidFill>
              </a:rPr>
              <a:t>Estimates the channel response on the delay-Doppler grid.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246120" y="329184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F1F7F5"/>
          </a:solidFill>
          <a:ln w="9525">
            <a:solidFill>
              <a:srgbClr val="F1F7F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410712" y="3456432"/>
            <a:ext cx="201168" cy="201168"/>
          </a:xfrm>
          <a:prstGeom prst="ellipse">
            <a:avLst/>
          </a:prstGeom>
          <a:solidFill>
            <a:srgbClr val="F26B5B"/>
          </a:solidFill>
          <a:ln w="12700">
            <a:solidFill>
              <a:srgbClr val="F26B5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703320" y="340156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2A"/>
                </a:solidFill>
              </a:rPr>
              <a:t>Doppler head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3410712" y="376732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7270"/>
                </a:solidFill>
              </a:rPr>
              <a:t>Predicts normalized Doppler and its Low / High class.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035040" y="329184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F1F7F5"/>
          </a:solidFill>
          <a:ln w="9525">
            <a:solidFill>
              <a:srgbClr val="F1F7F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199632" y="3456432"/>
            <a:ext cx="201168" cy="201168"/>
          </a:xfrm>
          <a:prstGeom prst="ellipse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492240" y="340156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2A"/>
                </a:solidFill>
              </a:rPr>
              <a:t>Training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6199632" y="376732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7270"/>
                </a:solidFill>
              </a:rPr>
              <a:t>Joint optimisation with a combined loss over both tasks.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6B5B"/>
                </a:solidFill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B2A"/>
                </a:solidFill>
              </a:rPr>
              <a:t>Workflow and Simulation Setup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270"/>
                </a:solidFill>
              </a:rPr>
              <a:t>Joint OTFS Channel Estimation &amp; Doppler Prediction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270"/>
                </a:solidFill>
              </a:rPr>
              <a:t>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316736"/>
            <a:ext cx="365760" cy="365760"/>
          </a:xfrm>
          <a:prstGeom prst="ellipse">
            <a:avLst/>
          </a:prstGeom>
          <a:solidFill>
            <a:srgbClr val="14A38B"/>
          </a:solidFill>
          <a:ln w="12700">
            <a:solidFill>
              <a:srgbClr val="14A38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316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1280160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2A"/>
                </a:solidFill>
              </a:rPr>
              <a:t>Generate synthetic OTFS channels with multipath and Doppler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847088"/>
            <a:ext cx="365760" cy="365760"/>
          </a:xfrm>
          <a:prstGeom prst="ellipse">
            <a:avLst/>
          </a:prstGeom>
          <a:solidFill>
            <a:srgbClr val="14A38B"/>
          </a:solidFill>
          <a:ln w="12700">
            <a:solidFill>
              <a:srgbClr val="14A38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1847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1810512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2A"/>
                </a:solidFill>
              </a:rPr>
              <a:t>Add AWGN noise and prepare the delay-Doppler input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377440"/>
            <a:ext cx="365760" cy="365760"/>
          </a:xfrm>
          <a:prstGeom prst="ellipse">
            <a:avLst/>
          </a:prstGeom>
          <a:solidFill>
            <a:srgbClr val="14A38B"/>
          </a:solidFill>
          <a:ln w="12700">
            <a:solidFill>
              <a:srgbClr val="14A38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2340864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2A"/>
                </a:solidFill>
              </a:rPr>
              <a:t>Extract local features with CNN layers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907792"/>
            <a:ext cx="365760" cy="365760"/>
          </a:xfrm>
          <a:prstGeom prst="ellipse">
            <a:avLst/>
          </a:prstGeom>
          <a:solidFill>
            <a:srgbClr val="14A38B"/>
          </a:solidFill>
          <a:ln w="12700">
            <a:solidFill>
              <a:srgbClr val="14A38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2907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2871216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2A"/>
                </a:solidFill>
              </a:rPr>
              <a:t>Tokenise features for the Transformer encoder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438144"/>
            <a:ext cx="365760" cy="365760"/>
          </a:xfrm>
          <a:prstGeom prst="ellipse">
            <a:avLst/>
          </a:prstGeom>
          <a:solidFill>
            <a:srgbClr val="14A38B"/>
          </a:solidFill>
          <a:ln w="12700">
            <a:solidFill>
              <a:srgbClr val="14A38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3438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60120" y="3401568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2A"/>
                </a:solidFill>
              </a:rPr>
              <a:t>Train the joint estimation and prediction model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968496"/>
            <a:ext cx="365760" cy="365760"/>
          </a:xfrm>
          <a:prstGeom prst="ellipse">
            <a:avLst/>
          </a:prstGeom>
          <a:solidFill>
            <a:srgbClr val="14A38B"/>
          </a:solidFill>
          <a:ln w="12700">
            <a:solidFill>
              <a:srgbClr val="14A38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7200" y="3968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60120" y="3931920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2A"/>
                </a:solidFill>
              </a:rPr>
              <a:t>Evaluate with estimation and prediction metrics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280160"/>
          <a:ext cx="39319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5603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Parameter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Specification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2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B2A"/>
                          </a:solidFill>
                        </a:rPr>
                        <a:t>Representation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2A"/>
                          </a:solidFill>
                        </a:rPr>
                        <a:t>OTFS-like delay-Doppler grid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B2A"/>
                          </a:solidFill>
                        </a:rPr>
                        <a:t>Input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2A"/>
                          </a:solidFill>
                        </a:rPr>
                        <a:t>Two channels (real, imaginary)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B2A"/>
                          </a:solidFill>
                        </a:rPr>
                        <a:t>Channel model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2A"/>
                          </a:solidFill>
                        </a:rPr>
                        <a:t>Synthetic multipath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B2A"/>
                          </a:solidFill>
                        </a:rPr>
                        <a:t>Noise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2A"/>
                          </a:solidFill>
                        </a:rPr>
                        <a:t>AWGN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B2A"/>
                          </a:solidFill>
                        </a:rPr>
                        <a:t>Dataset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2A"/>
                          </a:solidFill>
                        </a:rPr>
                        <a:t>5,800 synthetic samples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B2A"/>
                          </a:solidFill>
                        </a:rPr>
                        <a:t>Data split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2A"/>
                          </a:solidFill>
                        </a:rPr>
                        <a:t>4000 train / 800 val / 1000 test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Text 22"/>
          <p:cNvSpPr txBox="1"/>
          <p:nvPr/>
        </p:nvSpPr>
        <p:spPr>
          <a:xfrm>
            <a:off x="4754880" y="40233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7270"/>
                </a:solidFill>
              </a:rPr>
              <a:t>Tools: Python, Google Colab, TensorFlow/Keras, NumPy, Matplotlib, Scikit-learn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457200" y="45262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270"/>
                </a:solidFill>
              </a:rPr>
              <a:t>Metrics: MSE, NMSE (channel); MAE, RMSE, accuracy, ROC-AUC (Doppler)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6B5B"/>
                </a:solidFill>
              </a:rPr>
              <a:t>RESULTS  1 /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B2A"/>
                </a:solidFill>
              </a:rPr>
              <a:t>Training and Validation Loss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270"/>
                </a:solidFill>
              </a:rPr>
              <a:t>Joint OTFS Channel Estimation &amp; Doppler Prediction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270"/>
                </a:solidFill>
              </a:rPr>
              <a:t>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6E3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7" name="Image 0" descr="/mnt/user-data/uploads/1791989783981_training_validation_lo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045" y="1389888"/>
            <a:ext cx="4769510" cy="298094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715000" y="1280160"/>
            <a:ext cx="1371600" cy="914400"/>
          </a:xfrm>
          <a:prstGeom prst="roundRect">
            <a:avLst>
              <a:gd name="adj" fmla="val 10000"/>
            </a:avLst>
          </a:prstGeom>
          <a:solidFill>
            <a:srgbClr val="F1F7F5"/>
          </a:solidFill>
          <a:ln w="9525">
            <a:solidFill>
              <a:srgbClr val="F1F7F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715000" y="1353312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A38B"/>
                </a:solidFill>
              </a:rPr>
              <a:t>0.08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5788152" y="1810512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7270"/>
                </a:solidFill>
              </a:rPr>
              <a:t>Final train loss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269480" y="1280160"/>
            <a:ext cx="1417320" cy="914400"/>
          </a:xfrm>
          <a:prstGeom prst="roundRect">
            <a:avLst>
              <a:gd name="adj" fmla="val 10000"/>
            </a:avLst>
          </a:prstGeom>
          <a:solidFill>
            <a:srgbClr val="F1F7F5"/>
          </a:solidFill>
          <a:ln w="9525">
            <a:solidFill>
              <a:srgbClr val="F1F7F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269480" y="1353312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6B5B"/>
                </a:solidFill>
              </a:rPr>
              <a:t>0.14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7342632" y="1810512"/>
            <a:ext cx="1271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7270"/>
                </a:solidFill>
              </a:rPr>
              <a:t>Final val loss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5715000" y="2377440"/>
            <a:ext cx="2971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B2A"/>
                </a:solidFill>
              </a:rPr>
              <a:t>Fast drop in the first 5 epochs (train 0.95, val 0.69 at start)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B2A"/>
                </a:solidFill>
              </a:rPr>
              <a:t>Slow plateau from epoch 6 to 15, then a second drop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B2A"/>
                </a:solidFill>
              </a:rPr>
              <a:t>One brief validation spike near epoch 21, recovered by epoch 22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B2A"/>
                </a:solidFill>
              </a:rPr>
              <a:t>Train-val gap stays small (0.08 vs 0.14): stable learning, mild overfitting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6B5B"/>
                </a:solidFill>
              </a:rPr>
              <a:t>RESULTS  2 /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B2A"/>
                </a:solidFill>
              </a:rPr>
              <a:t>Doppler Prediction: True vs Predicted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270"/>
                </a:solidFill>
              </a:rPr>
              <a:t>Joint OTFS Channel Estimation &amp; Doppler Prediction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270"/>
                </a:solidFill>
              </a:rPr>
              <a:t>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20624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6E3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7" name="Image 0" descr="/mnt/user-data/uploads/1791989783980_doppler_predi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436" y="1389888"/>
            <a:ext cx="3477768" cy="298094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937760" y="1280160"/>
            <a:ext cx="1783080" cy="914400"/>
          </a:xfrm>
          <a:prstGeom prst="roundRect">
            <a:avLst>
              <a:gd name="adj" fmla="val 10000"/>
            </a:avLst>
          </a:prstGeom>
          <a:solidFill>
            <a:srgbClr val="F1F7F5"/>
          </a:solidFill>
          <a:ln w="9525">
            <a:solidFill>
              <a:srgbClr val="F1F7F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937760" y="1353312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A38B"/>
                </a:solidFill>
              </a:rPr>
              <a:t>16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5010912" y="1810512"/>
            <a:ext cx="1636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7270"/>
                </a:solidFill>
              </a:rPr>
              <a:t>Doppler levels, -1 to 0.875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903720" y="1280160"/>
            <a:ext cx="1783080" cy="914400"/>
          </a:xfrm>
          <a:prstGeom prst="roundRect">
            <a:avLst>
              <a:gd name="adj" fmla="val 10000"/>
            </a:avLst>
          </a:prstGeom>
          <a:solidFill>
            <a:srgbClr val="F1F7F5"/>
          </a:solidFill>
          <a:ln w="9525">
            <a:solidFill>
              <a:srgbClr val="F1F7F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903720" y="1353312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6B5B"/>
                </a:solidFill>
              </a:rPr>
              <a:t>Mid-range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6976872" y="1810512"/>
            <a:ext cx="1636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7270"/>
                </a:solidFill>
              </a:rPr>
              <a:t>Most accurate region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4937760" y="2377440"/>
            <a:ext cx="3749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B2A"/>
                </a:solidFill>
              </a:rPr>
              <a:t>Predictions follow the ideal diagonal across the full range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B2A"/>
                </a:solidFill>
              </a:rPr>
              <a:t>Points near -0.5 to -0.25 and 0.25 to 0.6 sit closest to the line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B2A"/>
                </a:solidFill>
              </a:rPr>
              <a:t>Extremes are pulled toward the centre: true 0.875 is often predicted at 0.3 to 0.6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B2A"/>
                </a:solidFill>
              </a:rPr>
              <a:t>A few outliers remain, e.g. true 0.75 predicted near -0.7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6B5B"/>
                </a:solidFill>
              </a:rPr>
              <a:t>RESULTS  3 /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B2A"/>
                </a:solidFill>
              </a:rPr>
              <a:t>Low vs High Doppler Classification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270"/>
                </a:solidFill>
              </a:rPr>
              <a:t>Joint OTFS Channel Estimation &amp; Doppler Prediction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270"/>
                </a:solidFill>
              </a:rPr>
              <a:t>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365760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6E3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7" name="Image 0" descr="/mnt/user-data/uploads/1791989783980_confusion_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47800"/>
            <a:ext cx="3438144" cy="28651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389120" y="1280160"/>
            <a:ext cx="1965960" cy="868680"/>
          </a:xfrm>
          <a:prstGeom prst="roundRect">
            <a:avLst>
              <a:gd name="adj" fmla="val 10526"/>
            </a:avLst>
          </a:prstGeom>
          <a:solidFill>
            <a:srgbClr val="F1F7F5"/>
          </a:solidFill>
          <a:ln w="9525">
            <a:solidFill>
              <a:srgbClr val="F1F7F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389120" y="1353312"/>
            <a:ext cx="196596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A38B"/>
                </a:solidFill>
              </a:rPr>
              <a:t>68.2%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462272" y="1783994"/>
            <a:ext cx="1819656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7270"/>
                </a:solidFill>
              </a:rPr>
              <a:t>Accuracy (307 / 450)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92240" y="1280160"/>
            <a:ext cx="2194560" cy="868680"/>
          </a:xfrm>
          <a:prstGeom prst="roundRect">
            <a:avLst>
              <a:gd name="adj" fmla="val 10526"/>
            </a:avLst>
          </a:prstGeom>
          <a:solidFill>
            <a:srgbClr val="F1F7F5"/>
          </a:solidFill>
          <a:ln w="9525">
            <a:solidFill>
              <a:srgbClr val="F1F7F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92240" y="1353312"/>
            <a:ext cx="219456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C5CE7"/>
                </a:solidFill>
              </a:rPr>
              <a:t>82.2%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6565392" y="1783994"/>
            <a:ext cx="2048256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7270"/>
                </a:solidFill>
              </a:rPr>
              <a:t>Precision, High class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389120" y="2286000"/>
            <a:ext cx="1965960" cy="868680"/>
          </a:xfrm>
          <a:prstGeom prst="roundRect">
            <a:avLst>
              <a:gd name="adj" fmla="val 10526"/>
            </a:avLst>
          </a:prstGeom>
          <a:solidFill>
            <a:srgbClr val="F1F7F5"/>
          </a:solidFill>
          <a:ln w="9525">
            <a:solidFill>
              <a:srgbClr val="F1F7F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389120" y="2359152"/>
            <a:ext cx="196596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6B5B"/>
                </a:solidFill>
              </a:rPr>
              <a:t>58.0%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4462272" y="2789834"/>
            <a:ext cx="1819656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7270"/>
                </a:solidFill>
              </a:rPr>
              <a:t>Recall, High class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492240" y="2286000"/>
            <a:ext cx="2194560" cy="868680"/>
          </a:xfrm>
          <a:prstGeom prst="roundRect">
            <a:avLst>
              <a:gd name="adj" fmla="val 10526"/>
            </a:avLst>
          </a:prstGeom>
          <a:solidFill>
            <a:srgbClr val="F1F7F5"/>
          </a:solidFill>
          <a:ln w="9525">
            <a:solidFill>
              <a:srgbClr val="F1F7F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92240" y="2359152"/>
            <a:ext cx="219456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A38B"/>
                </a:solidFill>
              </a:rPr>
              <a:t>82.4%</a:t>
            </a:r>
            <a:endParaRPr lang="en-US" sz="2600" dirty="0"/>
          </a:p>
        </p:txBody>
      </p:sp>
      <p:sp>
        <p:nvSpPr>
          <p:cNvPr id="19" name="Text 16"/>
          <p:cNvSpPr txBox="1"/>
          <p:nvPr/>
        </p:nvSpPr>
        <p:spPr>
          <a:xfrm>
            <a:off x="6565392" y="2789834"/>
            <a:ext cx="2048256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7270"/>
                </a:solidFill>
              </a:rPr>
              <a:t>Recall, Low class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4389120" y="333756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B2A"/>
                </a:solidFill>
              </a:rPr>
              <a:t>Only 33 of 188 Low samples are wrongly called High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B2A"/>
                </a:solidFill>
              </a:rPr>
              <a:t>110 of 262 High samples are missed (called Low)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B2A"/>
                </a:solidFill>
              </a:rPr>
              <a:t>F1 score is about 0.68 for both classes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B2A"/>
                </a:solidFill>
              </a:rPr>
              <a:t>The model leans toward predicting Low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6B5B"/>
                </a:solidFill>
              </a:rPr>
              <a:t>RESULTS  4 /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B2A"/>
                </a:solidFill>
              </a:rPr>
              <a:t>ROC Curve for Doppler Classification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270"/>
                </a:solidFill>
              </a:rPr>
              <a:t>Joint OTFS Channel Estimation &amp; Doppler Prediction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270"/>
                </a:solidFill>
              </a:rPr>
              <a:t>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75488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6E3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7" name="Image 0" descr="/mnt/user-data/uploads/1791989783981_roc_cur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979" y="1389888"/>
            <a:ext cx="4173322" cy="298094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0" y="1280160"/>
            <a:ext cx="3200400" cy="914400"/>
          </a:xfrm>
          <a:prstGeom prst="roundRect">
            <a:avLst>
              <a:gd name="adj" fmla="val 10000"/>
            </a:avLst>
          </a:prstGeom>
          <a:solidFill>
            <a:srgbClr val="F1F7F5"/>
          </a:solidFill>
          <a:ln w="9525">
            <a:solidFill>
              <a:srgbClr val="F1F7F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0" y="1353312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A38B"/>
                </a:solidFill>
              </a:rPr>
              <a:t>AUC = 0.781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5559552" y="1810512"/>
            <a:ext cx="3054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7270"/>
                </a:solidFill>
              </a:rPr>
              <a:t>Well above the 0.5 of random guessing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486400" y="2377440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B2A"/>
                </a:solidFill>
              </a:rPr>
              <a:t>About 0.5 true positive rate at only 0.1 false positive rate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B2A"/>
                </a:solidFill>
              </a:rPr>
              <a:t>About 0.65 TPR at 0.2 FPR and 0.78 at 0.4 FPR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B2A"/>
                </a:solidFill>
              </a:rPr>
              <a:t>Curve stays above the diagonal everywhere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B2A"/>
                </a:solidFill>
              </a:rPr>
              <a:t>Moving the decision threshold can trade precision for High-class recall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6B5B"/>
                </a:solidFill>
              </a:rPr>
              <a:t>RESULTS  5 /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B2A"/>
                </a:solidFill>
              </a:rPr>
              <a:t>Channel Estimation on the Delay-Doppler Grid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270"/>
                </a:solidFill>
              </a:rPr>
              <a:t>Joint OTFS Channel Estimation &amp; Doppler Prediction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270"/>
                </a:solidFill>
              </a:rPr>
              <a:t>11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1234440"/>
            <a:ext cx="822960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9525">
            <a:solidFill>
              <a:srgbClr val="D6E3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8" name="Image 0" descr="/mnt/user-data/uploads/1791989783981_channel_estim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1280160"/>
            <a:ext cx="7200900" cy="20574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57200" y="3566160"/>
            <a:ext cx="2651760" cy="1005840"/>
          </a:xfrm>
          <a:prstGeom prst="roundRect">
            <a:avLst>
              <a:gd name="adj" fmla="val 9091"/>
            </a:avLst>
          </a:prstGeom>
          <a:solidFill>
            <a:srgbClr val="F1F7F5"/>
          </a:solidFill>
          <a:ln w="9525">
            <a:solidFill>
              <a:srgbClr val="F1F7F5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94360" y="36118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A38B"/>
                </a:solidFill>
              </a:rPr>
              <a:t>Paths located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1B2B2A"/>
                </a:solidFill>
              </a:rPr>
              <a:t>The four dominant paths (about delay, Doppler = 0,0; 2,4; 13,13; 15,11) appear in the estimate.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3246120" y="3566160"/>
            <a:ext cx="2651760" cy="1005840"/>
          </a:xfrm>
          <a:prstGeom prst="roundRect">
            <a:avLst>
              <a:gd name="adj" fmla="val 9091"/>
            </a:avLst>
          </a:prstGeom>
          <a:solidFill>
            <a:srgbClr val="F1F7F5"/>
          </a:solidFill>
          <a:ln w="9525">
            <a:solidFill>
              <a:srgbClr val="F1F7F5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3383280" y="36118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5CE7"/>
                </a:solidFill>
              </a:rPr>
              <a:t>Amplitudes close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1B2B2A"/>
                </a:solidFill>
              </a:rPr>
              <a:t>Strongest path about 12.8 true vs 11.7 estimated; error is mostly under 1 elsewhere.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035040" y="3566160"/>
            <a:ext cx="2651760" cy="1005840"/>
          </a:xfrm>
          <a:prstGeom prst="roundRect">
            <a:avLst>
              <a:gd name="adj" fmla="val 9091"/>
            </a:avLst>
          </a:prstGeom>
          <a:solidFill>
            <a:srgbClr val="F1F7F5"/>
          </a:solidFill>
          <a:ln w="9525">
            <a:solidFill>
              <a:srgbClr val="F1F7F5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172200" y="36118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6B5B"/>
                </a:solidFill>
              </a:rPr>
              <a:t>Largest error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1B2B2A"/>
                </a:solidFill>
              </a:rPr>
              <a:t>Peak error about 2.4 at the weak path near (13,13), partly shifted to delay 14.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6B5B"/>
                </a:solidFill>
              </a:rPr>
              <a:t>RESULTS SUMMARY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B2A"/>
                </a:solidFill>
              </a:rPr>
              <a:t>Key Findings at a Glance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270"/>
                </a:solidFill>
              </a:rPr>
              <a:t>Joint OTFS Channel Estimation &amp; Doppler Prediction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270"/>
                </a:solidFill>
              </a:rPr>
              <a:t>12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91840"/>
                <a:gridCol w="31089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Task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Evidence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Outcome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2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B2A"/>
                          </a:solidFill>
                        </a:rPr>
                        <a:t>Training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2A"/>
                          </a:solidFill>
                        </a:rPr>
                        <a:t>Loss 0.95 to 0.08 (train), 0.69 to 0.14 (val)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2A"/>
                          </a:solidFill>
                        </a:rPr>
                        <a:t>Stable convergence over 25 epochs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B2A"/>
                          </a:solidFill>
                        </a:rPr>
                        <a:t>Doppler regression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2A"/>
                          </a:solidFill>
                        </a:rPr>
                        <a:t>True vs predicted scatter, 16 levels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2A"/>
                          </a:solidFill>
                        </a:rPr>
                        <a:t>Follows diagonal; weaker at extremes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B2A"/>
                          </a:solidFill>
                        </a:rPr>
                        <a:t>Doppler classification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2A"/>
                          </a:solidFill>
                        </a:rPr>
                        <a:t>Accuracy 68.2%, F1 about 0.68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2A"/>
                          </a:solidFill>
                        </a:rPr>
                        <a:t>High precision (82.2%), lower High recall (58.0%)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B2A"/>
                          </a:solidFill>
                        </a:rPr>
                        <a:t>Ranking quality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2A"/>
                          </a:solidFill>
                        </a:rPr>
                        <a:t>ROC AUC 0.781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2A"/>
                          </a:solidFill>
                        </a:rPr>
                        <a:t>Clearly better than chance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B2A"/>
                          </a:solidFill>
                        </a:rPr>
                        <a:t>Channel estimation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2A"/>
                          </a:solidFill>
                        </a:rPr>
                        <a:t>16 x 16 delay-Doppler map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2A"/>
                          </a:solidFill>
                        </a:rPr>
                        <a:t>Main paths recovered; max error about 2.4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6B5B"/>
                </a:solidFill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B2A"/>
                </a:solidFill>
              </a:rPr>
              <a:t>Conclusion and Future Work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270"/>
                </a:solidFill>
              </a:rPr>
              <a:t>Joint OTFS Channel Estimation &amp; Doppler Prediction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270"/>
                </a:solidFill>
              </a:rPr>
              <a:t>13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023360" cy="3200400"/>
          </a:xfrm>
          <a:prstGeom prst="roundRect">
            <a:avLst>
              <a:gd name="adj" fmla="val 2857"/>
            </a:avLst>
          </a:prstGeom>
          <a:solidFill>
            <a:srgbClr val="0F2D2B"/>
          </a:solidFill>
          <a:ln w="9525">
            <a:solidFill>
              <a:srgbClr val="0F2D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463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A38B"/>
                </a:solidFill>
              </a:rPr>
              <a:t>What we achieved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920240"/>
            <a:ext cx="3474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A joint CNN-Transformer for channel estimation and Doppler prediction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Stable training with validation loss near 0.14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Doppler classification AUC of 0.781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Main channel paths recovered on the delay-Doppler grid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1280160"/>
            <a:ext cx="4023360" cy="3200400"/>
          </a:xfrm>
          <a:prstGeom prst="roundRect">
            <a:avLst>
              <a:gd name="adj" fmla="val 2857"/>
            </a:avLst>
          </a:prstGeom>
          <a:solidFill>
            <a:srgbClr val="F1F7F5"/>
          </a:solidFill>
          <a:ln w="9525">
            <a:solidFill>
              <a:srgbClr val="F1F7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37760" y="1463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6B5B"/>
                </a:solidFill>
              </a:rPr>
              <a:t>Future work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1920240"/>
            <a:ext cx="3474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B2A"/>
                </a:solidFill>
              </a:rPr>
              <a:t>Improve High-Doppler recall (class weights, threshold tuning)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B2A"/>
                </a:solidFill>
              </a:rPr>
              <a:t>Compare against baseline estimators across SNR levels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B2A"/>
                </a:solidFill>
              </a:rPr>
              <a:t>Test under more channel conditions and noise levels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B2A"/>
                </a:solidFill>
              </a:rPr>
              <a:t>Reduce the train-validation gap with regularisation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89320" y="914400"/>
            <a:ext cx="142464" cy="142464"/>
          </a:xfrm>
          <a:prstGeom prst="rect">
            <a:avLst/>
          </a:prstGeom>
          <a:solidFill>
            <a:srgbClr val="14A38B"/>
          </a:solidFill>
          <a:ln w="12700">
            <a:solidFill>
              <a:srgbClr val="14A38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63056" y="91440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336792" y="91440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10528" y="91440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84264" y="91440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0" y="91440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31736" y="91440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05472" y="91440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79208" y="91440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552944" y="91440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26680" y="91440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00416" y="91440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74152" y="91440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47888" y="91440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21624" y="91440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95360" y="91440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89320" y="1088136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63056" y="1088136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36792" y="1088136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10528" y="1088136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84264" y="1088136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0" y="1088136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31736" y="1088136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05472" y="1088136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79208" y="1088136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552944" y="1088136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26680" y="1088136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900416" y="1088136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74152" y="1088136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47888" y="1088136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421624" y="1088136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595360" y="1088136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989320" y="1261872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63056" y="1261872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36792" y="1261872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510528" y="1261872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684264" y="1261872"/>
            <a:ext cx="142464" cy="142464"/>
          </a:xfrm>
          <a:prstGeom prst="rect">
            <a:avLst/>
          </a:prstGeom>
          <a:solidFill>
            <a:srgbClr val="14A38B"/>
          </a:solidFill>
          <a:ln w="12700">
            <a:solidFill>
              <a:srgbClr val="14A38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858000" y="1261872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031736" y="1261872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205472" y="1261872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379208" y="1261872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552944" y="1261872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726680" y="1261872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900416" y="1261872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074152" y="1261872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247888" y="1261872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421624" y="1261872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595360" y="1261872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989320" y="1435608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163056" y="1435608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336792" y="1435608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510528" y="1435608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684264" y="1435608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858000" y="1435608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031736" y="1435608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205472" y="1435608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379208" y="1435608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552944" y="1435608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726680" y="1435608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900416" y="1435608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074152" y="1435608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247888" y="1435608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421624" y="1435608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595360" y="1435608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989320" y="1609344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163056" y="1609344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336792" y="1609344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510528" y="1609344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684264" y="1609344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858000" y="1609344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031736" y="1609344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205472" y="1609344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379208" y="1609344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552944" y="1609344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726680" y="1609344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900416" y="1609344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074152" y="1609344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247888" y="1609344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421624" y="1609344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595360" y="1609344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989320" y="178308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163056" y="178308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6336792" y="178308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510528" y="178308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684264" y="178308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858000" y="178308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7031736" y="178308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7205472" y="178308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379208" y="178308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552944" y="178308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726680" y="178308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900416" y="178308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8074152" y="178308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8247888" y="178308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8421624" y="178308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8595360" y="178308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5989320" y="1956816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163056" y="1956816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6336792" y="1956816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6510528" y="1956816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6684264" y="1956816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6858000" y="1956816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7031736" y="1956816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7205472" y="1956816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7379208" y="1956816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7552944" y="1956816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726680" y="1956816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7900416" y="1956816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8074152" y="1956816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8247888" y="1956816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8421624" y="1956816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8595360" y="1956816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5989320" y="2130552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6163056" y="2130552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6336792" y="2130552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6510528" y="2130552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6684264" y="2130552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6858000" y="2130552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7031736" y="2130552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7205472" y="2130552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7379208" y="2130552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7552944" y="2130552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7726680" y="2130552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7900416" y="2130552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8074152" y="2130552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8247888" y="2130552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8421624" y="2130552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8595360" y="2130552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5989320" y="2304288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6163056" y="2304288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6336792" y="2304288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6510528" y="2304288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6684264" y="2304288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6858000" y="2304288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7031736" y="2304288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7205472" y="2304288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7379208" y="2304288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7552944" y="2304288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7726680" y="2304288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7900416" y="2304288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8074152" y="2304288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8247888" y="2304288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8421624" y="2304288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8595360" y="2304288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5989320" y="2478024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6163056" y="2478024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6336792" y="2478024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6510528" y="2478024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6684264" y="2478024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6858000" y="2478024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7031736" y="2478024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7205472" y="2478024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7379208" y="2478024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7552944" y="2478024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7726680" y="2478024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7900416" y="2478024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8074152" y="2478024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8247888" y="2478024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8421624" y="2478024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8595360" y="2478024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5989320" y="265176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6163056" y="265176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6336792" y="265176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6510528" y="265176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6684264" y="265176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6858000" y="265176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7031736" y="265176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7205472" y="265176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7379208" y="265176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7552944" y="265176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7726680" y="265176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7900416" y="265176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8074152" y="265176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8247888" y="265176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8421624" y="265176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8595360" y="265176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5989320" y="2825496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6163056" y="2825496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6336792" y="2825496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6510528" y="2825496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6684264" y="2825496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6858000" y="2825496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7031736" y="2825496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7205472" y="2825496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7379208" y="2825496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7552944" y="2825496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7726680" y="2825496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7900416" y="2825496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8074152" y="2825496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8247888" y="2825496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8421624" y="2825496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8595360" y="2825496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5989320" y="2999232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6163056" y="2999232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6336792" y="2999232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6510528" y="2999232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6684264" y="2999232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6858000" y="2999232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7031736" y="2999232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7205472" y="2999232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7379208" y="2999232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7552944" y="2999232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7726680" y="2999232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7900416" y="2999232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8074152" y="2999232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8247888" y="2999232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8421624" y="2999232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8595360" y="2999232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5989320" y="3172968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6163056" y="3172968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6336792" y="3172968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6510528" y="3172968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6684264" y="3172968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6858000" y="3172968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7031736" y="3172968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7205472" y="3172968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7379208" y="3172968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7552944" y="3172968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7726680" y="3172968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7900416" y="3172968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8074152" y="3172968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8247888" y="3172968"/>
            <a:ext cx="142464" cy="142464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8421624" y="3172968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8595360" y="3172968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5989320" y="3346704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6163056" y="3346704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6336792" y="3346704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6510528" y="3346704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6684264" y="3346704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6858000" y="3346704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7031736" y="3346704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7205472" y="3346704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7379208" y="3346704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7552944" y="3346704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7726680" y="3346704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7900416" y="3346704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8074152" y="3346704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8247888" y="3346704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8421624" y="3346704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8595360" y="3346704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5989320" y="352044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6163056" y="352044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6336792" y="352044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6510528" y="352044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6684264" y="352044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6858000" y="352044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7031736" y="352044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7205472" y="352044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7379208" y="352044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7552944" y="352044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7726680" y="352044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7900416" y="3520440"/>
            <a:ext cx="142464" cy="142464"/>
          </a:xfrm>
          <a:prstGeom prst="rect">
            <a:avLst/>
          </a:prstGeom>
          <a:solidFill>
            <a:srgbClr val="F26B5B"/>
          </a:solidFill>
          <a:ln w="12700">
            <a:solidFill>
              <a:srgbClr val="F26B5B"/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8074152" y="352044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8247888" y="352044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8421624" y="352044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8595360" y="3520440"/>
            <a:ext cx="142464" cy="142464"/>
          </a:xfrm>
          <a:prstGeom prst="rect">
            <a:avLst/>
          </a:prstGeom>
          <a:solidFill>
            <a:srgbClr val="1B4744"/>
          </a:solidFill>
          <a:ln w="12700">
            <a:solidFill>
              <a:srgbClr val="1B4744"/>
            </a:solidFill>
            <a:prstDash val="solid"/>
          </a:ln>
        </p:spPr>
      </p:sp>
      <p:sp>
        <p:nvSpPr>
          <p:cNvPr id="258" name="Text 256"/>
          <p:cNvSpPr txBox="1"/>
          <p:nvPr/>
        </p:nvSpPr>
        <p:spPr>
          <a:xfrm>
            <a:off x="548640" y="155448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Thank you</a:t>
            </a:r>
            <a:endParaRPr lang="en-US" sz="4400" dirty="0"/>
          </a:p>
        </p:txBody>
      </p:sp>
      <p:sp>
        <p:nvSpPr>
          <p:cNvPr id="259" name="Text 257"/>
          <p:cNvSpPr txBox="1"/>
          <p:nvPr/>
        </p:nvSpPr>
        <p:spPr>
          <a:xfrm>
            <a:off x="548640" y="24231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A38B"/>
                </a:solidFill>
              </a:rPr>
              <a:t>Questions?</a:t>
            </a:r>
            <a:endParaRPr lang="en-US" sz="2200" dirty="0"/>
          </a:p>
        </p:txBody>
      </p:sp>
      <p:sp>
        <p:nvSpPr>
          <p:cNvPr id="260" name="Text 258"/>
          <p:cNvSpPr txBox="1"/>
          <p:nvPr/>
        </p:nvSpPr>
        <p:spPr>
          <a:xfrm>
            <a:off x="548640" y="39319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7C0"/>
                </a:solidFill>
              </a:rPr>
              <a:t>Srikar Prathap  |  Dakshesh Kumar  |  Dhanush Karthikeya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opplerFinal">
  <a:themeElements>
    <a:clrScheme name="DopplerFinal">
      <a:dk1>
        <a:srgbClr val="1B2B2A"/>
      </a:dk1>
      <a:lt1>
        <a:srgbClr val="FFFFFF"/>
      </a:lt1>
      <a:dk2>
        <a:srgbClr val="0F2D2B"/>
      </a:dk2>
      <a:lt2>
        <a:srgbClr val="F1F7F5"/>
      </a:lt2>
      <a:accent1>
        <a:srgbClr val="14A38B"/>
      </a:accent1>
      <a:accent2>
        <a:srgbClr val="F26B5B"/>
      </a:accent2>
      <a:accent3>
        <a:srgbClr val="6C5CE7"/>
      </a:accent3>
      <a:accent4>
        <a:srgbClr val="2B7A78"/>
      </a:accent4>
      <a:accent5>
        <a:srgbClr val="5E7270"/>
      </a:accent5>
      <a:accent6>
        <a:srgbClr val="F2B134"/>
      </a:accent6>
      <a:hlink>
        <a:srgbClr val="14A38B"/>
      </a:hlink>
      <a:folHlink>
        <a:srgbClr val="5E7270"/>
      </a:folHlink>
    </a:clrScheme>
    <a:fontScheme name="DopplerFinal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Multi-Task CNN-Transformer for Joint OTFS Channel Estimation and Doppler-Sensing Prediction</dc:title>
  <dc:subject>PptxGenJS Presentation</dc:subject>
  <dc:creator>Srikar Prathap, Dakshesh Kumar, Dhanush Karthikeya</dc:creator>
  <cp:lastModifiedBy>Srikar Prathap, Dakshesh Kumar, Dhanush Karthikeya</cp:lastModifiedBy>
  <cp:revision>1</cp:revision>
  <dcterms:created xsi:type="dcterms:W3CDTF">2026-10-14T23:52:20Z</dcterms:created>
  <dcterms:modified xsi:type="dcterms:W3CDTF">2026-10-14T23:52:20Z</dcterms:modified>
</cp:coreProperties>
</file>