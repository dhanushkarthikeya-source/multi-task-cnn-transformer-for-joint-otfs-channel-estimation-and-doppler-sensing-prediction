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4AA51-77EB-43FA-906A-E9816A4658C7}" v="21" dt="2026-09-28T15:13:29.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67" y="-52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KAR PRATHAP" userId="1bbd7932bf938667" providerId="LiveId" clId="{C3073DAA-9295-4DF7-80CA-3B50AE273CCE}"/>
    <pc:docChg chg="undo custSel modSld">
      <pc:chgData name="SRIKAR PRATHAP" userId="1bbd7932bf938667" providerId="LiveId" clId="{C3073DAA-9295-4DF7-80CA-3B50AE273CCE}" dt="2026-09-28T15:15:41.961" v="262" actId="478"/>
      <pc:docMkLst>
        <pc:docMk/>
      </pc:docMkLst>
      <pc:sldChg chg="modSp mod">
        <pc:chgData name="SRIKAR PRATHAP" userId="1bbd7932bf938667" providerId="LiveId" clId="{C3073DAA-9295-4DF7-80CA-3B50AE273CCE}" dt="2026-09-28T15:11:11.635" v="187" actId="20577"/>
        <pc:sldMkLst>
          <pc:docMk/>
          <pc:sldMk cId="0" sldId="256"/>
        </pc:sldMkLst>
        <pc:spChg chg="mod">
          <ac:chgData name="SRIKAR PRATHAP" userId="1bbd7932bf938667" providerId="LiveId" clId="{C3073DAA-9295-4DF7-80CA-3B50AE273CCE}" dt="2026-09-28T15:08:37.271" v="111" actId="20577"/>
          <ac:spMkLst>
            <pc:docMk/>
            <pc:sldMk cId="0" sldId="256"/>
            <ac:spMk id="8" creationId="{00000000-0000-0000-0000-000000000000}"/>
          </ac:spMkLst>
        </pc:spChg>
        <pc:spChg chg="mod">
          <ac:chgData name="SRIKAR PRATHAP" userId="1bbd7932bf938667" providerId="LiveId" clId="{C3073DAA-9295-4DF7-80CA-3B50AE273CCE}" dt="2026-09-28T15:11:11.635" v="187" actId="20577"/>
          <ac:spMkLst>
            <pc:docMk/>
            <pc:sldMk cId="0" sldId="256"/>
            <ac:spMk id="9" creationId="{00000000-0000-0000-0000-000000000000}"/>
          </ac:spMkLst>
        </pc:spChg>
        <pc:spChg chg="mod">
          <ac:chgData name="SRIKAR PRATHAP" userId="1bbd7932bf938667" providerId="LiveId" clId="{C3073DAA-9295-4DF7-80CA-3B50AE273CCE}" dt="2026-09-28T15:10:55.161" v="181" actId="20577"/>
          <ac:spMkLst>
            <pc:docMk/>
            <pc:sldMk cId="0" sldId="256"/>
            <ac:spMk id="10" creationId="{00000000-0000-0000-0000-000000000000}"/>
          </ac:spMkLst>
        </pc:spChg>
      </pc:sldChg>
      <pc:sldChg chg="delSp mod">
        <pc:chgData name="SRIKAR PRATHAP" userId="1bbd7932bf938667" providerId="LiveId" clId="{C3073DAA-9295-4DF7-80CA-3B50AE273CCE}" dt="2026-09-28T15:07:33.066" v="58" actId="478"/>
        <pc:sldMkLst>
          <pc:docMk/>
          <pc:sldMk cId="0" sldId="257"/>
        </pc:sldMkLst>
        <pc:spChg chg="del">
          <ac:chgData name="SRIKAR PRATHAP" userId="1bbd7932bf938667" providerId="LiveId" clId="{C3073DAA-9295-4DF7-80CA-3B50AE273CCE}" dt="2026-09-28T15:07:33.066" v="58" actId="478"/>
          <ac:spMkLst>
            <pc:docMk/>
            <pc:sldMk cId="0" sldId="257"/>
            <ac:spMk id="6" creationId="{00000000-0000-0000-0000-000000000000}"/>
          </ac:spMkLst>
        </pc:spChg>
      </pc:sldChg>
      <pc:sldChg chg="addSp delSp modSp mod">
        <pc:chgData name="SRIKAR PRATHAP" userId="1bbd7932bf938667" providerId="LiveId" clId="{C3073DAA-9295-4DF7-80CA-3B50AE273CCE}" dt="2026-09-28T15:15:41.961" v="262" actId="478"/>
        <pc:sldMkLst>
          <pc:docMk/>
          <pc:sldMk cId="0" sldId="258"/>
        </pc:sldMkLst>
        <pc:spChg chg="del">
          <ac:chgData name="SRIKAR PRATHAP" userId="1bbd7932bf938667" providerId="LiveId" clId="{C3073DAA-9295-4DF7-80CA-3B50AE273CCE}" dt="2026-09-28T15:07:37.432" v="59" actId="478"/>
          <ac:spMkLst>
            <pc:docMk/>
            <pc:sldMk cId="0" sldId="258"/>
            <ac:spMk id="6" creationId="{00000000-0000-0000-0000-000000000000}"/>
          </ac:spMkLst>
        </pc:spChg>
        <pc:spChg chg="mod">
          <ac:chgData name="SRIKAR PRATHAP" userId="1bbd7932bf938667" providerId="LiveId" clId="{C3073DAA-9295-4DF7-80CA-3B50AE273CCE}" dt="2026-09-28T15:13:30.273" v="248" actId="1038"/>
          <ac:spMkLst>
            <pc:docMk/>
            <pc:sldMk cId="0" sldId="258"/>
            <ac:spMk id="8" creationId="{00000000-0000-0000-0000-000000000000}"/>
          </ac:spMkLst>
        </pc:spChg>
        <pc:spChg chg="mod">
          <ac:chgData name="SRIKAR PRATHAP" userId="1bbd7932bf938667" providerId="LiveId" clId="{C3073DAA-9295-4DF7-80CA-3B50AE273CCE}" dt="2026-09-28T15:13:27.661" v="243" actId="1038"/>
          <ac:spMkLst>
            <pc:docMk/>
            <pc:sldMk cId="0" sldId="258"/>
            <ac:spMk id="9" creationId="{00000000-0000-0000-0000-000000000000}"/>
          </ac:spMkLst>
        </pc:spChg>
        <pc:spChg chg="mod">
          <ac:chgData name="SRIKAR PRATHAP" userId="1bbd7932bf938667" providerId="LiveId" clId="{C3073DAA-9295-4DF7-80CA-3B50AE273CCE}" dt="2026-09-28T15:13:27.661" v="243" actId="1038"/>
          <ac:spMkLst>
            <pc:docMk/>
            <pc:sldMk cId="0" sldId="258"/>
            <ac:spMk id="10" creationId="{00000000-0000-0000-0000-000000000000}"/>
          </ac:spMkLst>
        </pc:spChg>
        <pc:spChg chg="mod">
          <ac:chgData name="SRIKAR PRATHAP" userId="1bbd7932bf938667" providerId="LiveId" clId="{C3073DAA-9295-4DF7-80CA-3B50AE273CCE}" dt="2026-09-28T15:13:27.661" v="243" actId="1038"/>
          <ac:spMkLst>
            <pc:docMk/>
            <pc:sldMk cId="0" sldId="258"/>
            <ac:spMk id="11" creationId="{00000000-0000-0000-0000-000000000000}"/>
          </ac:spMkLst>
        </pc:spChg>
        <pc:spChg chg="mod">
          <ac:chgData name="SRIKAR PRATHAP" userId="1bbd7932bf938667" providerId="LiveId" clId="{C3073DAA-9295-4DF7-80CA-3B50AE273CCE}" dt="2026-09-28T15:13:27.661" v="243" actId="1038"/>
          <ac:spMkLst>
            <pc:docMk/>
            <pc:sldMk cId="0" sldId="258"/>
            <ac:spMk id="12" creationId="{00000000-0000-0000-0000-000000000000}"/>
          </ac:spMkLst>
        </pc:spChg>
        <pc:spChg chg="mod">
          <ac:chgData name="SRIKAR PRATHAP" userId="1bbd7932bf938667" providerId="LiveId" clId="{C3073DAA-9295-4DF7-80CA-3B50AE273CCE}" dt="2026-09-28T15:13:27.661" v="243" actId="1038"/>
          <ac:spMkLst>
            <pc:docMk/>
            <pc:sldMk cId="0" sldId="258"/>
            <ac:spMk id="13" creationId="{00000000-0000-0000-0000-000000000000}"/>
          </ac:spMkLst>
        </pc:spChg>
        <pc:spChg chg="mod">
          <ac:chgData name="SRIKAR PRATHAP" userId="1bbd7932bf938667" providerId="LiveId" clId="{C3073DAA-9295-4DF7-80CA-3B50AE273CCE}" dt="2026-09-28T15:13:27.661" v="243" actId="1038"/>
          <ac:spMkLst>
            <pc:docMk/>
            <pc:sldMk cId="0" sldId="258"/>
            <ac:spMk id="14" creationId="{00000000-0000-0000-0000-000000000000}"/>
          </ac:spMkLst>
        </pc:spChg>
        <pc:spChg chg="mod">
          <ac:chgData name="SRIKAR PRATHAP" userId="1bbd7932bf938667" providerId="LiveId" clId="{C3073DAA-9295-4DF7-80CA-3B50AE273CCE}" dt="2026-09-28T15:13:27.661" v="243" actId="1038"/>
          <ac:spMkLst>
            <pc:docMk/>
            <pc:sldMk cId="0" sldId="258"/>
            <ac:spMk id="15" creationId="{00000000-0000-0000-0000-000000000000}"/>
          </ac:spMkLst>
        </pc:spChg>
        <pc:spChg chg="mod">
          <ac:chgData name="SRIKAR PRATHAP" userId="1bbd7932bf938667" providerId="LiveId" clId="{C3073DAA-9295-4DF7-80CA-3B50AE273CCE}" dt="2026-09-28T15:13:27.661" v="243" actId="1038"/>
          <ac:spMkLst>
            <pc:docMk/>
            <pc:sldMk cId="0" sldId="258"/>
            <ac:spMk id="16" creationId="{00000000-0000-0000-0000-000000000000}"/>
          </ac:spMkLst>
        </pc:spChg>
        <pc:spChg chg="add del mod">
          <ac:chgData name="SRIKAR PRATHAP" userId="1bbd7932bf938667" providerId="LiveId" clId="{C3073DAA-9295-4DF7-80CA-3B50AE273CCE}" dt="2026-09-28T15:13:29.509" v="247" actId="767"/>
          <ac:spMkLst>
            <pc:docMk/>
            <pc:sldMk cId="0" sldId="258"/>
            <ac:spMk id="19" creationId="{AC8F0AC0-C330-4470-85D6-3C3696961F71}"/>
          </ac:spMkLst>
        </pc:spChg>
        <pc:spChg chg="add del mod">
          <ac:chgData name="SRIKAR PRATHAP" userId="1bbd7932bf938667" providerId="LiveId" clId="{C3073DAA-9295-4DF7-80CA-3B50AE273CCE}" dt="2026-09-28T15:13:28.668" v="245" actId="767"/>
          <ac:spMkLst>
            <pc:docMk/>
            <pc:sldMk cId="0" sldId="258"/>
            <ac:spMk id="20" creationId="{E9F8E702-2AB3-A1C6-4CBF-05C32DA32A59}"/>
          </ac:spMkLst>
        </pc:spChg>
        <pc:spChg chg="add del mod">
          <ac:chgData name="SRIKAR PRATHAP" userId="1bbd7932bf938667" providerId="LiveId" clId="{C3073DAA-9295-4DF7-80CA-3B50AE273CCE}" dt="2026-09-28T15:15:41.961" v="262" actId="478"/>
          <ac:spMkLst>
            <pc:docMk/>
            <pc:sldMk cId="0" sldId="258"/>
            <ac:spMk id="25" creationId="{85A0F4F1-47B6-771E-AAB7-20988623D079}"/>
          </ac:spMkLst>
        </pc:spChg>
        <pc:picChg chg="add del mod">
          <ac:chgData name="SRIKAR PRATHAP" userId="1bbd7932bf938667" providerId="LiveId" clId="{C3073DAA-9295-4DF7-80CA-3B50AE273CCE}" dt="2026-09-28T15:13:27.200" v="242" actId="22"/>
          <ac:picMkLst>
            <pc:docMk/>
            <pc:sldMk cId="0" sldId="258"/>
            <ac:picMk id="22" creationId="{CD848252-C349-1957-6E3A-059F8F0CAC0F}"/>
          </ac:picMkLst>
        </pc:picChg>
        <pc:picChg chg="add mod">
          <ac:chgData name="SRIKAR PRATHAP" userId="1bbd7932bf938667" providerId="LiveId" clId="{C3073DAA-9295-4DF7-80CA-3B50AE273CCE}" dt="2026-09-28T15:14:03.968" v="257" actId="14100"/>
          <ac:picMkLst>
            <pc:docMk/>
            <pc:sldMk cId="0" sldId="258"/>
            <ac:picMk id="24" creationId="{F16AF6BC-9A4C-32C5-996D-2304A7A02E76}"/>
          </ac:picMkLst>
        </pc:picChg>
      </pc:sldChg>
      <pc:sldChg chg="delSp modSp mod">
        <pc:chgData name="SRIKAR PRATHAP" userId="1bbd7932bf938667" providerId="LiveId" clId="{C3073DAA-9295-4DF7-80CA-3B50AE273CCE}" dt="2026-09-28T15:07:43.836" v="61" actId="478"/>
        <pc:sldMkLst>
          <pc:docMk/>
          <pc:sldMk cId="0" sldId="259"/>
        </pc:sldMkLst>
        <pc:spChg chg="del mod">
          <ac:chgData name="SRIKAR PRATHAP" userId="1bbd7932bf938667" providerId="LiveId" clId="{C3073DAA-9295-4DF7-80CA-3B50AE273CCE}" dt="2026-09-28T15:07:43.836" v="61" actId="478"/>
          <ac:spMkLst>
            <pc:docMk/>
            <pc:sldMk cId="0" sldId="259"/>
            <ac:spMk id="6" creationId="{00000000-0000-0000-0000-000000000000}"/>
          </ac:spMkLst>
        </pc:spChg>
      </pc:sldChg>
      <pc:sldChg chg="delSp mod">
        <pc:chgData name="SRIKAR PRATHAP" userId="1bbd7932bf938667" providerId="LiveId" clId="{C3073DAA-9295-4DF7-80CA-3B50AE273CCE}" dt="2026-09-28T15:07:48.066" v="62" actId="478"/>
        <pc:sldMkLst>
          <pc:docMk/>
          <pc:sldMk cId="0" sldId="260"/>
        </pc:sldMkLst>
        <pc:spChg chg="del">
          <ac:chgData name="SRIKAR PRATHAP" userId="1bbd7932bf938667" providerId="LiveId" clId="{C3073DAA-9295-4DF7-80CA-3B50AE273CCE}" dt="2026-09-28T15:07:48.066" v="62" actId="478"/>
          <ac:spMkLst>
            <pc:docMk/>
            <pc:sldMk cId="0" sldId="260"/>
            <ac:spMk id="6" creationId="{00000000-0000-0000-0000-000000000000}"/>
          </ac:spMkLst>
        </pc:spChg>
      </pc:sldChg>
      <pc:sldChg chg="delSp mod">
        <pc:chgData name="SRIKAR PRATHAP" userId="1bbd7932bf938667" providerId="LiveId" clId="{C3073DAA-9295-4DF7-80CA-3B50AE273CCE}" dt="2026-09-28T15:07:52.391" v="63" actId="478"/>
        <pc:sldMkLst>
          <pc:docMk/>
          <pc:sldMk cId="0" sldId="261"/>
        </pc:sldMkLst>
        <pc:spChg chg="del">
          <ac:chgData name="SRIKAR PRATHAP" userId="1bbd7932bf938667" providerId="LiveId" clId="{C3073DAA-9295-4DF7-80CA-3B50AE273CCE}" dt="2026-09-28T15:07:52.391" v="63" actId="478"/>
          <ac:spMkLst>
            <pc:docMk/>
            <pc:sldMk cId="0" sldId="261"/>
            <ac:spMk id="6" creationId="{00000000-0000-0000-0000-000000000000}"/>
          </ac:spMkLst>
        </pc:spChg>
      </pc:sldChg>
      <pc:sldChg chg="delSp modSp mod">
        <pc:chgData name="SRIKAR PRATHAP" userId="1bbd7932bf938667" providerId="LiveId" clId="{C3073DAA-9295-4DF7-80CA-3B50AE273CCE}" dt="2026-09-28T15:07:55.832" v="64" actId="478"/>
        <pc:sldMkLst>
          <pc:docMk/>
          <pc:sldMk cId="0" sldId="262"/>
        </pc:sldMkLst>
        <pc:spChg chg="del">
          <ac:chgData name="SRIKAR PRATHAP" userId="1bbd7932bf938667" providerId="LiveId" clId="{C3073DAA-9295-4DF7-80CA-3B50AE273CCE}" dt="2026-09-28T15:07:55.832" v="64" actId="478"/>
          <ac:spMkLst>
            <pc:docMk/>
            <pc:sldMk cId="0" sldId="262"/>
            <ac:spMk id="6" creationId="{00000000-0000-0000-0000-000000000000}"/>
          </ac:spMkLst>
        </pc:spChg>
        <pc:spChg chg="mod">
          <ac:chgData name="SRIKAR PRATHAP" userId="1bbd7932bf938667" providerId="LiveId" clId="{C3073DAA-9295-4DF7-80CA-3B50AE273CCE}" dt="2026-09-28T15:02:46.670" v="0"/>
          <ac:spMkLst>
            <pc:docMk/>
            <pc:sldMk cId="0" sldId="262"/>
            <ac:spMk id="13" creationId="{00000000-0000-0000-0000-000000000000}"/>
          </ac:spMkLst>
        </pc:spChg>
        <pc:spChg chg="mod">
          <ac:chgData name="SRIKAR PRATHAP" userId="1bbd7932bf938667" providerId="LiveId" clId="{C3073DAA-9295-4DF7-80CA-3B50AE273CCE}" dt="2026-09-28T15:02:55.553" v="1"/>
          <ac:spMkLst>
            <pc:docMk/>
            <pc:sldMk cId="0" sldId="262"/>
            <ac:spMk id="15" creationId="{00000000-0000-0000-0000-000000000000}"/>
          </ac:spMkLst>
        </pc:spChg>
        <pc:spChg chg="mod">
          <ac:chgData name="SRIKAR PRATHAP" userId="1bbd7932bf938667" providerId="LiveId" clId="{C3073DAA-9295-4DF7-80CA-3B50AE273CCE}" dt="2026-09-28T15:03:03.691" v="2"/>
          <ac:spMkLst>
            <pc:docMk/>
            <pc:sldMk cId="0" sldId="262"/>
            <ac:spMk id="17" creationId="{00000000-0000-0000-0000-000000000000}"/>
          </ac:spMkLst>
        </pc:spChg>
        <pc:spChg chg="mod">
          <ac:chgData name="SRIKAR PRATHAP" userId="1bbd7932bf938667" providerId="LiveId" clId="{C3073DAA-9295-4DF7-80CA-3B50AE273CCE}" dt="2026-09-28T15:03:10.462" v="3"/>
          <ac:spMkLst>
            <pc:docMk/>
            <pc:sldMk cId="0" sldId="262"/>
            <ac:spMk id="19" creationId="{00000000-0000-0000-0000-000000000000}"/>
          </ac:spMkLst>
        </pc:spChg>
        <pc:spChg chg="mod">
          <ac:chgData name="SRIKAR PRATHAP" userId="1bbd7932bf938667" providerId="LiveId" clId="{C3073DAA-9295-4DF7-80CA-3B50AE273CCE}" dt="2026-09-28T15:03:17.740" v="4"/>
          <ac:spMkLst>
            <pc:docMk/>
            <pc:sldMk cId="0" sldId="262"/>
            <ac:spMk id="21" creationId="{00000000-0000-0000-0000-000000000000}"/>
          </ac:spMkLst>
        </pc:spChg>
      </pc:sldChg>
      <pc:sldChg chg="delSp modSp mod">
        <pc:chgData name="SRIKAR PRATHAP" userId="1bbd7932bf938667" providerId="LiveId" clId="{C3073DAA-9295-4DF7-80CA-3B50AE273CCE}" dt="2026-09-28T15:07:59.497" v="65" actId="478"/>
        <pc:sldMkLst>
          <pc:docMk/>
          <pc:sldMk cId="0" sldId="263"/>
        </pc:sldMkLst>
        <pc:spChg chg="del">
          <ac:chgData name="SRIKAR PRATHAP" userId="1bbd7932bf938667" providerId="LiveId" clId="{C3073DAA-9295-4DF7-80CA-3B50AE273CCE}" dt="2026-09-28T15:07:59.497" v="65" actId="478"/>
          <ac:spMkLst>
            <pc:docMk/>
            <pc:sldMk cId="0" sldId="263"/>
            <ac:spMk id="6" creationId="{00000000-0000-0000-0000-000000000000}"/>
          </ac:spMkLst>
        </pc:spChg>
        <pc:graphicFrameChg chg="mod">
          <ac:chgData name="SRIKAR PRATHAP" userId="1bbd7932bf938667" providerId="LiveId" clId="{C3073DAA-9295-4DF7-80CA-3B50AE273CCE}" dt="2026-09-28T15:04:38.440" v="11"/>
          <ac:graphicFrameMkLst>
            <pc:docMk/>
            <pc:sldMk cId="0" sldId="263"/>
            <ac:graphicFrameMk id="9" creationId="{00000000-0000-0000-0000-000000000000}"/>
          </ac:graphicFrameMkLst>
        </pc:graphicFrameChg>
      </pc:sldChg>
      <pc:sldChg chg="delSp modSp mod">
        <pc:chgData name="SRIKAR PRATHAP" userId="1bbd7932bf938667" providerId="LiveId" clId="{C3073DAA-9295-4DF7-80CA-3B50AE273CCE}" dt="2026-09-28T15:06:28.791" v="57" actId="255"/>
        <pc:sldMkLst>
          <pc:docMk/>
          <pc:sldMk cId="0" sldId="264"/>
        </pc:sldMkLst>
        <pc:spChg chg="mod">
          <ac:chgData name="SRIKAR PRATHAP" userId="1bbd7932bf938667" providerId="LiveId" clId="{C3073DAA-9295-4DF7-80CA-3B50AE273CCE}" dt="2026-09-28T15:06:28.791" v="57" actId="255"/>
          <ac:spMkLst>
            <pc:docMk/>
            <pc:sldMk cId="0" sldId="264"/>
            <ac:spMk id="3" creationId="{00000000-0000-0000-0000-000000000000}"/>
          </ac:spMkLst>
        </pc:spChg>
        <pc:spChg chg="mod">
          <ac:chgData name="SRIKAR PRATHAP" userId="1bbd7932bf938667" providerId="LiveId" clId="{C3073DAA-9295-4DF7-80CA-3B50AE273CCE}" dt="2026-09-28T15:06:19.574" v="56" actId="1036"/>
          <ac:spMkLst>
            <pc:docMk/>
            <pc:sldMk cId="0" sldId="264"/>
            <ac:spMk id="4" creationId="{00000000-0000-0000-0000-000000000000}"/>
          </ac:spMkLst>
        </pc:spChg>
        <pc:spChg chg="mod">
          <ac:chgData name="SRIKAR PRATHAP" userId="1bbd7932bf938667" providerId="LiveId" clId="{C3073DAA-9295-4DF7-80CA-3B50AE273CCE}" dt="2026-09-28T15:06:14.914" v="45" actId="1036"/>
          <ac:spMkLst>
            <pc:docMk/>
            <pc:sldMk cId="0" sldId="264"/>
            <ac:spMk id="5" creationId="{00000000-0000-0000-0000-000000000000}"/>
          </ac:spMkLst>
        </pc:spChg>
        <pc:spChg chg="mod">
          <ac:chgData name="SRIKAR PRATHAP" userId="1bbd7932bf938667" providerId="LiveId" clId="{C3073DAA-9295-4DF7-80CA-3B50AE273CCE}" dt="2026-09-28T15:06:14.914" v="45" actId="1036"/>
          <ac:spMkLst>
            <pc:docMk/>
            <pc:sldMk cId="0" sldId="264"/>
            <ac:spMk id="6" creationId="{00000000-0000-0000-0000-000000000000}"/>
          </ac:spMkLst>
        </pc:spChg>
        <pc:spChg chg="mod">
          <ac:chgData name="SRIKAR PRATHAP" userId="1bbd7932bf938667" providerId="LiveId" clId="{C3073DAA-9295-4DF7-80CA-3B50AE273CCE}" dt="2026-09-28T15:06:14.914" v="45" actId="1036"/>
          <ac:spMkLst>
            <pc:docMk/>
            <pc:sldMk cId="0" sldId="264"/>
            <ac:spMk id="7" creationId="{00000000-0000-0000-0000-000000000000}"/>
          </ac:spMkLst>
        </pc:spChg>
        <pc:spChg chg="mod">
          <ac:chgData name="SRIKAR PRATHAP" userId="1bbd7932bf938667" providerId="LiveId" clId="{C3073DAA-9295-4DF7-80CA-3B50AE273CCE}" dt="2026-09-28T15:06:14.914" v="45" actId="1036"/>
          <ac:spMkLst>
            <pc:docMk/>
            <pc:sldMk cId="0" sldId="264"/>
            <ac:spMk id="8" creationId="{00000000-0000-0000-0000-000000000000}"/>
          </ac:spMkLst>
        </pc:spChg>
        <pc:spChg chg="del">
          <ac:chgData name="SRIKAR PRATHAP" userId="1bbd7932bf938667" providerId="LiveId" clId="{C3073DAA-9295-4DF7-80CA-3B50AE273CCE}" dt="2026-09-28T15:05:45.669" v="21" actId="478"/>
          <ac:spMkLst>
            <pc:docMk/>
            <pc:sldMk cId="0" sldId="264"/>
            <ac:spMk id="9" creationId="{00000000-0000-0000-0000-000000000000}"/>
          </ac:spMkLst>
        </pc:spChg>
        <pc:spChg chg="del mod">
          <ac:chgData name="SRIKAR PRATHAP" userId="1bbd7932bf938667" providerId="LiveId" clId="{C3073DAA-9295-4DF7-80CA-3B50AE273CCE}" dt="2026-09-28T15:05:42.122" v="20" actId="478"/>
          <ac:spMkLst>
            <pc:docMk/>
            <pc:sldMk cId="0" sldId="264"/>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7CB97365-EBCA-4027-87D5-99FC1D4DF0BB}" type="datetimeFigureOut">
              <a:rPr lang="en-US" smtClean="0"/>
              <a:pPr/>
              <a:t>9/29/2026</a:t>
            </a:fld>
            <a:endParaRPr lang="en-US"/>
          </a:p>
        </p:txBody>
      </p:sp>
      <p:sp>
        <p:nvSpPr>
          <p:cNvPr id="19" name="Footer Placeholder 18"/>
          <p:cNvSpPr>
            <a:spLocks noGrp="1"/>
          </p:cNvSpPr>
          <p:nvPr>
            <p:ph type="ftr" sz="quarter" idx="11"/>
          </p:nvPr>
        </p:nvSpPr>
        <p:spPr/>
        <p:txBody>
          <a:bodyPr/>
          <a:lstStyle/>
          <a:p>
            <a:endParaRPr kumimoji="0" lang="en-US"/>
          </a:p>
        </p:txBody>
      </p:sp>
      <p:sp>
        <p:nvSpPr>
          <p:cNvPr id="27" name="Slide Number Placeholder 2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CB97365-EBCA-4027-87D5-99FC1D4DF0BB}"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CB97365-EBCA-4027-87D5-99FC1D4DF0BB}"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CB97365-EBCA-4027-87D5-99FC1D4DF0BB}"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CB97365-EBCA-4027-87D5-99FC1D4DF0BB}"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97365-EBCA-4027-87D5-99FC1D4DF0BB}"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CB97365-EBCA-4027-87D5-99FC1D4DF0BB}"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CB97365-EBCA-4027-87D5-99FC1D4DF0BB}"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10769600" y="6356351"/>
            <a:ext cx="812800" cy="365125"/>
          </a:xfrm>
        </p:spPr>
        <p:txBody>
          <a:bodyPr/>
          <a:lstStyle/>
          <a:p>
            <a:fld id="{69E29E33-B620-47F9-BB04-8846C2A5AFCC}" type="slidenum">
              <a:rPr kumimoji="0" lang="en-US" smtClean="0"/>
              <a:pPr/>
              <a:t>‹#›</a:t>
            </a:fld>
            <a:endParaRPr kumimoji="0"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CB97365-EBCA-4027-87D5-99FC1D4DF0BB}"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CB97365-EBCA-4027-87D5-99FC1D4DF0BB}" type="datetimeFigureOut">
              <a:rPr lang="en-US" smtClean="0"/>
              <a:pPr/>
              <a:t>9/29/2026</a:t>
            </a:fld>
            <a:endParaRPr lang="en-US">
              <a:solidFill>
                <a:schemeClr val="tx1">
                  <a:shade val="50000"/>
                </a:schemeClr>
              </a:solidFill>
            </a:endParaRPr>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kumimoji="0" lang="en-US">
              <a:solidFill>
                <a:schemeClr val="tx1">
                  <a:shade val="50000"/>
                </a:schemeClr>
              </a:solidFill>
            </a:endParaRP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9E29E33-B620-47F9-BB04-8846C2A5AFCC}" type="slidenum">
              <a:rPr kumimoji="0" lang="en-US" smtClean="0"/>
              <a:pPr/>
              <a:t>‹#›</a:t>
            </a:fld>
            <a:endParaRPr kumimoji="0" lang="en-US" dirty="0">
              <a:solidFill>
                <a:schemeClr val="tx1">
                  <a:shade val="50000"/>
                </a:schemeClr>
              </a:solidFill>
            </a:endParaRPr>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411480" y="411480"/>
            <a:ext cx="11365992" cy="6035040"/>
          </a:xfrm>
          <a:prstGeom prst="rect">
            <a:avLst/>
          </a:prstGeom>
          <a:ln w="12700">
            <a:solidFill>
              <a:srgbClr val="B08D57"/>
            </a:solidFill>
            <a:prstDash val="solid"/>
          </a:ln>
        </p:spPr>
      </p:sp>
      <p:sp>
        <p:nvSpPr>
          <p:cNvPr id="3" name="Text 1"/>
          <p:cNvSpPr txBox="1"/>
          <p:nvPr/>
        </p:nvSpPr>
        <p:spPr>
          <a:xfrm>
            <a:off x="0" y="868680"/>
            <a:ext cx="12188952" cy="274320"/>
          </a:xfrm>
          <a:prstGeom prst="rect">
            <a:avLst/>
          </a:prstGeom>
          <a:noFill/>
          <a:ln/>
        </p:spPr>
        <p:txBody>
          <a:bodyPr wrap="square" lIns="0" tIns="0" rIns="0" bIns="0" rtlCol="0" anchor="ctr"/>
          <a:lstStyle/>
          <a:p>
            <a:pPr marL="0" indent="0" algn="ctr">
              <a:buNone/>
            </a:pPr>
            <a:r>
              <a:rPr lang="en-US" sz="1100" b="1" kern="0" spc="300" dirty="0">
                <a:solidFill>
                  <a:srgbClr val="B08D57"/>
                </a:solidFill>
                <a:latin typeface="Calibri" pitchFamily="34" charset="0"/>
                <a:ea typeface="Calibri" pitchFamily="34" charset="-122"/>
                <a:cs typeface="Calibri" pitchFamily="34" charset="-120"/>
              </a:rPr>
              <a:t>MACHINE LEARNING  |  25SC2107E  |  ACADEMIC YEAR 2026–27</a:t>
            </a:r>
            <a:endParaRPr lang="en-US" sz="1100" dirty="0"/>
          </a:p>
        </p:txBody>
      </p:sp>
      <p:sp>
        <p:nvSpPr>
          <p:cNvPr id="4" name="Text 2"/>
          <p:cNvSpPr txBox="1"/>
          <p:nvPr/>
        </p:nvSpPr>
        <p:spPr>
          <a:xfrm>
            <a:off x="946484" y="1655544"/>
            <a:ext cx="10360152" cy="1554480"/>
          </a:xfrm>
          <a:prstGeom prst="rect">
            <a:avLst/>
          </a:prstGeom>
          <a:noFill/>
          <a:ln/>
        </p:spPr>
        <p:txBody>
          <a:bodyPr wrap="square" lIns="0" tIns="0" rIns="0" bIns="0" rtlCol="0" anchor="ctr"/>
          <a:lstStyle/>
          <a:p>
            <a:pPr algn="ctr"/>
            <a:r>
              <a:rPr lang="en-IN" sz="2800" b="1" dirty="0">
                <a:solidFill>
                  <a:schemeClr val="bg1"/>
                </a:solidFill>
              </a:rPr>
              <a:t>Multi-Task CNN-Transformer for Joint OTFS Channel Estimation and Doppler-Sensing Prediction</a:t>
            </a:r>
            <a:endParaRPr lang="en-US" sz="2800" b="1" dirty="0">
              <a:solidFill>
                <a:schemeClr val="bg1"/>
              </a:solidFill>
            </a:endParaRPr>
          </a:p>
        </p:txBody>
      </p:sp>
      <p:sp>
        <p:nvSpPr>
          <p:cNvPr id="5" name="Shape 3"/>
          <p:cNvSpPr/>
          <p:nvPr/>
        </p:nvSpPr>
        <p:spPr>
          <a:xfrm>
            <a:off x="5180076" y="3470708"/>
            <a:ext cx="1828800" cy="0"/>
          </a:xfrm>
          <a:prstGeom prst="line">
            <a:avLst/>
          </a:prstGeom>
          <a:noFill/>
          <a:ln w="19050">
            <a:solidFill>
              <a:srgbClr val="B08D57"/>
            </a:solidFill>
            <a:prstDash val="solid"/>
          </a:ln>
        </p:spPr>
      </p:sp>
      <p:sp>
        <p:nvSpPr>
          <p:cNvPr id="7" name="Text 5"/>
          <p:cNvSpPr txBox="1"/>
          <p:nvPr/>
        </p:nvSpPr>
        <p:spPr>
          <a:xfrm>
            <a:off x="0" y="4114800"/>
            <a:ext cx="12188952" cy="274320"/>
          </a:xfrm>
          <a:prstGeom prst="rect">
            <a:avLst/>
          </a:prstGeom>
          <a:noFill/>
          <a:ln/>
        </p:spPr>
        <p:txBody>
          <a:bodyPr wrap="square" lIns="0" tIns="0" rIns="0" bIns="0" rtlCol="0" anchor="ctr"/>
          <a:lstStyle/>
          <a:p>
            <a:pPr marL="0" indent="0" algn="ctr">
              <a:buNone/>
            </a:pPr>
            <a:r>
              <a:rPr lang="en-US" sz="1000" b="1" kern="0" spc="300" dirty="0">
                <a:solidFill>
                  <a:srgbClr val="B08D57"/>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1463040" y="4434840"/>
            <a:ext cx="30175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Srikar </a:t>
            </a:r>
            <a:r>
              <a:rPr lang="en-US" sz="1400" b="1" dirty="0" err="1">
                <a:solidFill>
                  <a:srgbClr val="FFFFFF"/>
                </a:solidFill>
                <a:latin typeface="Calibri" pitchFamily="34" charset="0"/>
                <a:ea typeface="Calibri" pitchFamily="34" charset="-122"/>
                <a:cs typeface="Calibri" pitchFamily="34" charset="-120"/>
              </a:rPr>
              <a:t>Prathap</a:t>
            </a:r>
            <a:endParaRPr lang="en-US" sz="1400" dirty="0"/>
          </a:p>
          <a:p>
            <a:pPr marL="0" indent="0" algn="ctr">
              <a:buNone/>
            </a:pPr>
            <a:r>
              <a:rPr lang="en-US" sz="1100" dirty="0">
                <a:solidFill>
                  <a:srgbClr val="D5DAE5"/>
                </a:solidFill>
                <a:latin typeface="Calibri" pitchFamily="34" charset="0"/>
                <a:ea typeface="Calibri" pitchFamily="34" charset="-122"/>
                <a:cs typeface="Calibri" pitchFamily="34" charset="-120"/>
              </a:rPr>
              <a:t>2520040006</a:t>
            </a:r>
            <a:endParaRPr lang="en-US" sz="1400" dirty="0"/>
          </a:p>
        </p:txBody>
      </p:sp>
      <p:sp>
        <p:nvSpPr>
          <p:cNvPr id="9" name="Text 7"/>
          <p:cNvSpPr txBox="1"/>
          <p:nvPr/>
        </p:nvSpPr>
        <p:spPr>
          <a:xfrm>
            <a:off x="4617720" y="4434840"/>
            <a:ext cx="30175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Dakshesh Kumar</a:t>
            </a:r>
            <a:endParaRPr lang="en-US" sz="1400" dirty="0"/>
          </a:p>
          <a:p>
            <a:pPr marL="0" indent="0" algn="ctr">
              <a:buNone/>
            </a:pPr>
            <a:r>
              <a:rPr lang="en-US" sz="1100" dirty="0">
                <a:solidFill>
                  <a:srgbClr val="D5DAE5"/>
                </a:solidFill>
                <a:latin typeface="Calibri" pitchFamily="34" charset="0"/>
                <a:ea typeface="Calibri" pitchFamily="34" charset="-122"/>
                <a:cs typeface="Calibri" pitchFamily="34" charset="-120"/>
              </a:rPr>
              <a:t>2520040060</a:t>
            </a:r>
            <a:endParaRPr lang="en-US" sz="1400" dirty="0"/>
          </a:p>
        </p:txBody>
      </p:sp>
      <p:sp>
        <p:nvSpPr>
          <p:cNvPr id="10" name="Text 8"/>
          <p:cNvSpPr txBox="1"/>
          <p:nvPr/>
        </p:nvSpPr>
        <p:spPr>
          <a:xfrm>
            <a:off x="7772400" y="4434840"/>
            <a:ext cx="301752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Dhanush Karthikeya</a:t>
            </a:r>
            <a:endParaRPr lang="en-US" sz="1400" dirty="0"/>
          </a:p>
          <a:p>
            <a:pPr marL="0" indent="0" algn="ctr">
              <a:buNone/>
            </a:pPr>
            <a:r>
              <a:rPr lang="en-US" sz="1100" dirty="0">
                <a:solidFill>
                  <a:srgbClr val="D5DAE5"/>
                </a:solidFill>
                <a:latin typeface="Calibri" pitchFamily="34" charset="0"/>
                <a:ea typeface="Calibri" pitchFamily="34" charset="-122"/>
                <a:cs typeface="Calibri" pitchFamily="34" charset="-120"/>
              </a:rPr>
              <a:t>2520040032</a:t>
            </a:r>
            <a:endParaRPr lang="en-US" sz="1400" dirty="0"/>
          </a:p>
        </p:txBody>
      </p:sp>
      <p:sp>
        <p:nvSpPr>
          <p:cNvPr id="11" name="Text 9"/>
          <p:cNvSpPr txBox="1"/>
          <p:nvPr/>
        </p:nvSpPr>
        <p:spPr>
          <a:xfrm>
            <a:off x="0" y="5440680"/>
            <a:ext cx="12188952" cy="365760"/>
          </a:xfrm>
          <a:prstGeom prst="rect">
            <a:avLst/>
          </a:prstGeom>
          <a:noFill/>
          <a:ln/>
        </p:spPr>
        <p:txBody>
          <a:bodyPr wrap="square" lIns="0" tIns="0" rIns="0" bIns="0" rtlCol="0" anchor="ctr"/>
          <a:lstStyle/>
          <a:p>
            <a:pPr marL="0" indent="0" algn="ctr">
              <a:buNone/>
            </a:pPr>
            <a:r>
              <a:rPr lang="en-US" sz="1250" dirty="0">
                <a:solidFill>
                  <a:srgbClr val="D5DAE5"/>
                </a:solidFill>
                <a:latin typeface="Calibri" pitchFamily="34" charset="0"/>
                <a:ea typeface="Calibri" pitchFamily="34" charset="-122"/>
                <a:cs typeface="Calibri" pitchFamily="34" charset="-120"/>
              </a:rPr>
              <a:t>Under the guidance of </a:t>
            </a:r>
            <a:r>
              <a:rPr lang="en-US" sz="1250" b="1" dirty="0">
                <a:solidFill>
                  <a:srgbClr val="FFFFFF"/>
                </a:solidFill>
                <a:latin typeface="Calibri" pitchFamily="34" charset="0"/>
                <a:ea typeface="Calibri" pitchFamily="34" charset="-122"/>
                <a:cs typeface="Calibri" pitchFamily="34" charset="-120"/>
              </a:rPr>
              <a:t>Mr. N Lava Prasad</a:t>
            </a:r>
            <a:r>
              <a:rPr lang="en-US" sz="1250" dirty="0">
                <a:solidFill>
                  <a:srgbClr val="D5DAE5"/>
                </a:solidFill>
                <a:latin typeface="Calibri" pitchFamily="34" charset="0"/>
                <a:ea typeface="Calibri" pitchFamily="34" charset="-122"/>
                <a:cs typeface="Calibri" pitchFamily="34" charset="-120"/>
              </a:rPr>
              <a:t>, Assistant Professor, Department of ECE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MOTIVATION</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Significance of High-Mobility Wireless Communication</a:t>
            </a: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2</a:t>
            </a:r>
            <a:endParaRPr lang="en-US" sz="900" dirty="0"/>
          </a:p>
        </p:txBody>
      </p:sp>
      <p:sp>
        <p:nvSpPr>
          <p:cNvPr id="8" name="Text 6"/>
          <p:cNvSpPr txBox="1"/>
          <p:nvPr/>
        </p:nvSpPr>
        <p:spPr>
          <a:xfrm>
            <a:off x="548640" y="1463040"/>
            <a:ext cx="11091672" cy="914400"/>
          </a:xfrm>
          <a:prstGeom prst="rect">
            <a:avLst/>
          </a:prstGeom>
          <a:noFill/>
          <a:ln/>
        </p:spPr>
        <p:txBody>
          <a:bodyPr wrap="square" lIns="0" tIns="0" rIns="0" bIns="0" rtlCol="0" anchor="t"/>
          <a:lstStyle/>
          <a:p>
            <a:r>
              <a:rPr lang="en-IN" sz="1400" dirty="0"/>
              <a:t>Orthogonal Time Frequency Space (OTFS) modulation is designed to support reliable wireless communication in high-mobility environments. However, vehicle movement, multipath propagation, and Doppler shifts cause wireless channels to change rapidly. Accurate channel estimation and Doppler prediction are essential for improving receiver performance. This project uses a CNN-Transformer model to learn channel features and perform both tasks jointly.</a:t>
            </a:r>
            <a:endParaRPr lang="en-US" sz="1400" dirty="0"/>
          </a:p>
        </p:txBody>
      </p:sp>
      <p:sp>
        <p:nvSpPr>
          <p:cNvPr id="9" name="Shape 7"/>
          <p:cNvSpPr/>
          <p:nvPr/>
        </p:nvSpPr>
        <p:spPr>
          <a:xfrm>
            <a:off x="548640" y="2743200"/>
            <a:ext cx="2606040" cy="2286000"/>
          </a:xfrm>
          <a:prstGeom prst="rect">
            <a:avLst/>
          </a:prstGeom>
          <a:solidFill>
            <a:srgbClr val="F3F4F6"/>
          </a:solidFill>
          <a:ln w="9525">
            <a:solidFill>
              <a:srgbClr val="C9CED6"/>
            </a:solidFill>
            <a:prstDash val="solid"/>
          </a:ln>
        </p:spPr>
      </p:sp>
      <p:sp>
        <p:nvSpPr>
          <p:cNvPr id="10" name="Shape 8"/>
          <p:cNvSpPr/>
          <p:nvPr/>
        </p:nvSpPr>
        <p:spPr>
          <a:xfrm>
            <a:off x="548640" y="2743200"/>
            <a:ext cx="2606040" cy="64008"/>
          </a:xfrm>
          <a:prstGeom prst="rect">
            <a:avLst/>
          </a:prstGeom>
          <a:solidFill>
            <a:srgbClr val="B08D57"/>
          </a:solidFill>
          <a:ln/>
        </p:spPr>
      </p:sp>
      <p:sp>
        <p:nvSpPr>
          <p:cNvPr id="11" name="Text 9"/>
          <p:cNvSpPr txBox="1"/>
          <p:nvPr/>
        </p:nvSpPr>
        <p:spPr>
          <a:xfrm>
            <a:off x="777240" y="3017520"/>
            <a:ext cx="914400" cy="457200"/>
          </a:xfrm>
          <a:prstGeom prst="rect">
            <a:avLst/>
          </a:prstGeom>
          <a:noFill/>
          <a:ln/>
        </p:spPr>
        <p:txBody>
          <a:bodyPr wrap="square" lIns="0" tIns="0" rIns="0" bIns="0" rtlCol="0" anchor="ctr"/>
          <a:lstStyle/>
          <a:p>
            <a:pPr marL="0" indent="0">
              <a:buNone/>
            </a:pPr>
            <a:r>
              <a:rPr lang="en-US" sz="2400" b="1" dirty="0">
                <a:solidFill>
                  <a:srgbClr val="14213D"/>
                </a:solidFill>
                <a:latin typeface="Georgia" pitchFamily="34" charset="0"/>
                <a:ea typeface="Georgia" pitchFamily="34" charset="-122"/>
                <a:cs typeface="Georgia" pitchFamily="34" charset="-120"/>
              </a:rPr>
              <a:t>01</a:t>
            </a:r>
            <a:endParaRPr lang="en-US" sz="2400" dirty="0"/>
          </a:p>
        </p:txBody>
      </p:sp>
      <p:sp>
        <p:nvSpPr>
          <p:cNvPr id="12" name="Text 10"/>
          <p:cNvSpPr txBox="1"/>
          <p:nvPr/>
        </p:nvSpPr>
        <p:spPr>
          <a:xfrm>
            <a:off x="777240" y="3611880"/>
            <a:ext cx="2148840" cy="36576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Autonomous Vehicles</a:t>
            </a:r>
            <a:endParaRPr lang="en-US" sz="1400" dirty="0"/>
          </a:p>
        </p:txBody>
      </p:sp>
      <p:sp>
        <p:nvSpPr>
          <p:cNvPr id="13" name="Text 11"/>
          <p:cNvSpPr txBox="1"/>
          <p:nvPr/>
        </p:nvSpPr>
        <p:spPr>
          <a:xfrm>
            <a:off x="777240" y="4023360"/>
            <a:ext cx="2148840" cy="868680"/>
          </a:xfrm>
          <a:prstGeom prst="rect">
            <a:avLst/>
          </a:prstGeom>
          <a:noFill/>
          <a:ln/>
        </p:spPr>
        <p:txBody>
          <a:bodyPr wrap="square" lIns="0" tIns="0" rIns="0" bIns="0" rtlCol="0" anchor="t"/>
          <a:lstStyle/>
          <a:p>
            <a:r>
              <a:rPr lang="en-IN" sz="1200" dirty="0"/>
              <a:t>Reliable wireless communication under rapidly changing vehicle speeds.</a:t>
            </a:r>
            <a:endParaRPr lang="en-US" sz="1200" dirty="0"/>
          </a:p>
        </p:txBody>
      </p:sp>
      <p:sp>
        <p:nvSpPr>
          <p:cNvPr id="14" name="Shape 12"/>
          <p:cNvSpPr/>
          <p:nvPr/>
        </p:nvSpPr>
        <p:spPr>
          <a:xfrm>
            <a:off x="3374136" y="2743200"/>
            <a:ext cx="2606040" cy="2286000"/>
          </a:xfrm>
          <a:prstGeom prst="rect">
            <a:avLst/>
          </a:prstGeom>
          <a:solidFill>
            <a:srgbClr val="F3F4F6"/>
          </a:solidFill>
          <a:ln w="9525">
            <a:solidFill>
              <a:srgbClr val="C9CED6"/>
            </a:solidFill>
            <a:prstDash val="solid"/>
          </a:ln>
        </p:spPr>
      </p:sp>
      <p:sp>
        <p:nvSpPr>
          <p:cNvPr id="15" name="Shape 13"/>
          <p:cNvSpPr/>
          <p:nvPr/>
        </p:nvSpPr>
        <p:spPr>
          <a:xfrm>
            <a:off x="3374136" y="2743200"/>
            <a:ext cx="2606040" cy="64008"/>
          </a:xfrm>
          <a:prstGeom prst="rect">
            <a:avLst/>
          </a:prstGeom>
          <a:solidFill>
            <a:srgbClr val="B08D57"/>
          </a:solidFill>
          <a:ln/>
        </p:spPr>
      </p:sp>
      <p:sp>
        <p:nvSpPr>
          <p:cNvPr id="16" name="Text 14"/>
          <p:cNvSpPr txBox="1"/>
          <p:nvPr/>
        </p:nvSpPr>
        <p:spPr>
          <a:xfrm>
            <a:off x="3602736" y="3017520"/>
            <a:ext cx="914400" cy="457200"/>
          </a:xfrm>
          <a:prstGeom prst="rect">
            <a:avLst/>
          </a:prstGeom>
          <a:noFill/>
          <a:ln/>
        </p:spPr>
        <p:txBody>
          <a:bodyPr wrap="square" lIns="0" tIns="0" rIns="0" bIns="0" rtlCol="0" anchor="ctr"/>
          <a:lstStyle/>
          <a:p>
            <a:pPr marL="0" indent="0">
              <a:buNone/>
            </a:pPr>
            <a:r>
              <a:rPr lang="en-US" sz="2400" b="1" dirty="0">
                <a:solidFill>
                  <a:srgbClr val="14213D"/>
                </a:solidFill>
                <a:latin typeface="Georgia" pitchFamily="34" charset="0"/>
                <a:ea typeface="Georgia" pitchFamily="34" charset="-122"/>
                <a:cs typeface="Georgia" pitchFamily="34" charset="-120"/>
              </a:rPr>
              <a:t>02</a:t>
            </a:r>
            <a:endParaRPr lang="en-US" sz="2400" dirty="0"/>
          </a:p>
        </p:txBody>
      </p:sp>
      <p:sp>
        <p:nvSpPr>
          <p:cNvPr id="17" name="Text 15"/>
          <p:cNvSpPr txBox="1"/>
          <p:nvPr/>
        </p:nvSpPr>
        <p:spPr>
          <a:xfrm>
            <a:off x="3602736" y="3611880"/>
            <a:ext cx="2148840" cy="36576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Drones and UAVs</a:t>
            </a:r>
            <a:endParaRPr lang="en-US" sz="1400" dirty="0"/>
          </a:p>
        </p:txBody>
      </p:sp>
      <p:sp>
        <p:nvSpPr>
          <p:cNvPr id="18" name="Text 16"/>
          <p:cNvSpPr txBox="1"/>
          <p:nvPr/>
        </p:nvSpPr>
        <p:spPr>
          <a:xfrm>
            <a:off x="3602736" y="4023360"/>
            <a:ext cx="2148840" cy="868680"/>
          </a:xfrm>
          <a:prstGeom prst="rect">
            <a:avLst/>
          </a:prstGeom>
          <a:noFill/>
          <a:ln/>
        </p:spPr>
        <p:txBody>
          <a:bodyPr wrap="square" lIns="0" tIns="0" rIns="0" bIns="0" rtlCol="0" anchor="t"/>
          <a:lstStyle/>
          <a:p>
            <a:r>
              <a:rPr lang="en-IN" sz="1200" dirty="0"/>
              <a:t>Communication support during high-speed flight and movement.</a:t>
            </a:r>
            <a:endParaRPr lang="en-US" sz="1200" dirty="0"/>
          </a:p>
        </p:txBody>
      </p:sp>
      <p:sp>
        <p:nvSpPr>
          <p:cNvPr id="19" name="Shape 17"/>
          <p:cNvSpPr/>
          <p:nvPr/>
        </p:nvSpPr>
        <p:spPr>
          <a:xfrm>
            <a:off x="6199632" y="2743200"/>
            <a:ext cx="2606040" cy="2286000"/>
          </a:xfrm>
          <a:prstGeom prst="rect">
            <a:avLst/>
          </a:prstGeom>
          <a:solidFill>
            <a:srgbClr val="F3F4F6"/>
          </a:solidFill>
          <a:ln w="9525">
            <a:solidFill>
              <a:srgbClr val="C9CED6"/>
            </a:solidFill>
            <a:prstDash val="solid"/>
          </a:ln>
        </p:spPr>
      </p:sp>
      <p:sp>
        <p:nvSpPr>
          <p:cNvPr id="20" name="Shape 18"/>
          <p:cNvSpPr/>
          <p:nvPr/>
        </p:nvSpPr>
        <p:spPr>
          <a:xfrm>
            <a:off x="6199632" y="2743200"/>
            <a:ext cx="2606040" cy="64008"/>
          </a:xfrm>
          <a:prstGeom prst="rect">
            <a:avLst/>
          </a:prstGeom>
          <a:solidFill>
            <a:srgbClr val="B08D57"/>
          </a:solidFill>
          <a:ln/>
        </p:spPr>
      </p:sp>
      <p:sp>
        <p:nvSpPr>
          <p:cNvPr id="21" name="Text 19"/>
          <p:cNvSpPr txBox="1"/>
          <p:nvPr/>
        </p:nvSpPr>
        <p:spPr>
          <a:xfrm>
            <a:off x="6428232" y="3017520"/>
            <a:ext cx="914400" cy="457200"/>
          </a:xfrm>
          <a:prstGeom prst="rect">
            <a:avLst/>
          </a:prstGeom>
          <a:noFill/>
          <a:ln/>
        </p:spPr>
        <p:txBody>
          <a:bodyPr wrap="square" lIns="0" tIns="0" rIns="0" bIns="0" rtlCol="0" anchor="ctr"/>
          <a:lstStyle/>
          <a:p>
            <a:pPr marL="0" indent="0">
              <a:buNone/>
            </a:pPr>
            <a:r>
              <a:rPr lang="en-US" sz="2400" b="1" dirty="0">
                <a:solidFill>
                  <a:srgbClr val="14213D"/>
                </a:solidFill>
                <a:latin typeface="Georgia" pitchFamily="34" charset="0"/>
                <a:ea typeface="Georgia" pitchFamily="34" charset="-122"/>
                <a:cs typeface="Georgia" pitchFamily="34" charset="-120"/>
              </a:rPr>
              <a:t>03</a:t>
            </a:r>
            <a:endParaRPr lang="en-US" sz="2400" dirty="0"/>
          </a:p>
        </p:txBody>
      </p:sp>
      <p:sp>
        <p:nvSpPr>
          <p:cNvPr id="22" name="Text 20"/>
          <p:cNvSpPr txBox="1"/>
          <p:nvPr/>
        </p:nvSpPr>
        <p:spPr>
          <a:xfrm>
            <a:off x="6428232" y="3611880"/>
            <a:ext cx="2148840" cy="365760"/>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High-Speed Trains</a:t>
            </a:r>
            <a:endParaRPr lang="en-US" sz="1400" dirty="0"/>
          </a:p>
        </p:txBody>
      </p:sp>
      <p:sp>
        <p:nvSpPr>
          <p:cNvPr id="23" name="Text 21"/>
          <p:cNvSpPr txBox="1"/>
          <p:nvPr/>
        </p:nvSpPr>
        <p:spPr>
          <a:xfrm>
            <a:off x="6428232" y="4023360"/>
            <a:ext cx="2148840" cy="868680"/>
          </a:xfrm>
          <a:prstGeom prst="rect">
            <a:avLst/>
          </a:prstGeom>
          <a:noFill/>
          <a:ln/>
        </p:spPr>
        <p:txBody>
          <a:bodyPr wrap="square" lIns="0" tIns="0" rIns="0" bIns="0" rtlCol="0" anchor="t"/>
          <a:lstStyle/>
          <a:p>
            <a:r>
              <a:rPr lang="en-IN" sz="1200" dirty="0"/>
              <a:t>Channel estimation under high Doppler shifts and rapid channel variation.</a:t>
            </a:r>
            <a:endParaRPr lang="en-US" sz="1200" dirty="0"/>
          </a:p>
        </p:txBody>
      </p:sp>
      <p:sp>
        <p:nvSpPr>
          <p:cNvPr id="24" name="Shape 22"/>
          <p:cNvSpPr/>
          <p:nvPr/>
        </p:nvSpPr>
        <p:spPr>
          <a:xfrm>
            <a:off x="9025128" y="2743200"/>
            <a:ext cx="2606040" cy="2286000"/>
          </a:xfrm>
          <a:prstGeom prst="rect">
            <a:avLst/>
          </a:prstGeom>
          <a:solidFill>
            <a:srgbClr val="F3F4F6"/>
          </a:solidFill>
          <a:ln w="9525">
            <a:solidFill>
              <a:srgbClr val="C9CED6"/>
            </a:solidFill>
            <a:prstDash val="solid"/>
          </a:ln>
        </p:spPr>
      </p:sp>
      <p:sp>
        <p:nvSpPr>
          <p:cNvPr id="25" name="Shape 23"/>
          <p:cNvSpPr/>
          <p:nvPr/>
        </p:nvSpPr>
        <p:spPr>
          <a:xfrm>
            <a:off x="9025128" y="2743200"/>
            <a:ext cx="2606040" cy="64008"/>
          </a:xfrm>
          <a:prstGeom prst="rect">
            <a:avLst/>
          </a:prstGeom>
          <a:solidFill>
            <a:srgbClr val="B08D57"/>
          </a:solidFill>
          <a:ln/>
        </p:spPr>
      </p:sp>
      <p:sp>
        <p:nvSpPr>
          <p:cNvPr id="26" name="Text 24"/>
          <p:cNvSpPr txBox="1"/>
          <p:nvPr/>
        </p:nvSpPr>
        <p:spPr>
          <a:xfrm>
            <a:off x="9253728" y="3017520"/>
            <a:ext cx="914400" cy="457200"/>
          </a:xfrm>
          <a:prstGeom prst="rect">
            <a:avLst/>
          </a:prstGeom>
          <a:noFill/>
          <a:ln/>
        </p:spPr>
        <p:txBody>
          <a:bodyPr wrap="square" lIns="0" tIns="0" rIns="0" bIns="0" rtlCol="0" anchor="ctr"/>
          <a:lstStyle/>
          <a:p>
            <a:pPr marL="0" indent="0">
              <a:buNone/>
            </a:pPr>
            <a:r>
              <a:rPr lang="en-US" sz="2400" b="1" dirty="0">
                <a:solidFill>
                  <a:srgbClr val="14213D"/>
                </a:solidFill>
                <a:latin typeface="Georgia" pitchFamily="34" charset="0"/>
                <a:ea typeface="Georgia" pitchFamily="34" charset="-122"/>
                <a:cs typeface="Georgia" pitchFamily="34" charset="-120"/>
              </a:rPr>
              <a:t>04</a:t>
            </a:r>
            <a:endParaRPr lang="en-US" sz="2400" dirty="0"/>
          </a:p>
        </p:txBody>
      </p:sp>
      <p:sp>
        <p:nvSpPr>
          <p:cNvPr id="27" name="Text 25"/>
          <p:cNvSpPr txBox="1"/>
          <p:nvPr/>
        </p:nvSpPr>
        <p:spPr>
          <a:xfrm>
            <a:off x="9253728" y="3611880"/>
            <a:ext cx="2148840" cy="365760"/>
          </a:xfrm>
          <a:prstGeom prst="rect">
            <a:avLst/>
          </a:prstGeom>
          <a:noFill/>
          <a:ln/>
        </p:spPr>
        <p:txBody>
          <a:bodyPr wrap="square" lIns="0" tIns="0" rIns="0" bIns="0" rtlCol="0" anchor="ctr"/>
          <a:lstStyle/>
          <a:p>
            <a:r>
              <a:rPr lang="en-IN" sz="1400" dirty="0"/>
              <a:t>5G and 6G Networks</a:t>
            </a:r>
            <a:endParaRPr lang="en-US" sz="1400" dirty="0"/>
          </a:p>
        </p:txBody>
      </p:sp>
      <p:sp>
        <p:nvSpPr>
          <p:cNvPr id="28" name="Text 26"/>
          <p:cNvSpPr txBox="1"/>
          <p:nvPr/>
        </p:nvSpPr>
        <p:spPr>
          <a:xfrm>
            <a:off x="9253728" y="4023360"/>
            <a:ext cx="2148840" cy="868680"/>
          </a:xfrm>
          <a:prstGeom prst="rect">
            <a:avLst/>
          </a:prstGeom>
          <a:noFill/>
          <a:ln/>
        </p:spPr>
        <p:txBody>
          <a:bodyPr wrap="square" lIns="0" tIns="0" rIns="0" bIns="0" rtlCol="0" anchor="t"/>
          <a:lstStyle/>
          <a:p>
            <a:r>
              <a:rPr lang="en-IN" sz="1200" dirty="0"/>
              <a:t>Machine-learning-based signal processing for future wireless systems.</a:t>
            </a:r>
            <a:endParaRPr lang="en-US" sz="1200" dirty="0"/>
          </a:p>
        </p:txBody>
      </p:sp>
      <p:sp>
        <p:nvSpPr>
          <p:cNvPr id="29" name="Text 27"/>
          <p:cNvSpPr txBox="1"/>
          <p:nvPr/>
        </p:nvSpPr>
        <p:spPr>
          <a:xfrm>
            <a:off x="548640" y="5349240"/>
            <a:ext cx="11091672" cy="548640"/>
          </a:xfrm>
          <a:prstGeom prst="rect">
            <a:avLst/>
          </a:prstGeom>
          <a:noFill/>
          <a:ln/>
        </p:spPr>
        <p:txBody>
          <a:bodyPr wrap="square" lIns="0" tIns="0" rIns="0" bIns="0" rtlCol="0" anchor="t"/>
          <a:lstStyle/>
          <a:p>
            <a:r>
              <a:rPr lang="en-IN" sz="1400" dirty="0"/>
              <a:t>Joint channel estimation and Doppler prediction can support adaptive and reliable OTFS receivers in high-mobility environments.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603504" y="466344"/>
            <a:ext cx="7315200" cy="256032"/>
          </a:xfrm>
          <a:prstGeom prst="rect">
            <a:avLst/>
          </a:prstGeom>
          <a:noFill/>
          <a:ln/>
        </p:spPr>
        <p:txBody>
          <a:bodyPr wrap="square" lIns="0" tIns="0" rIns="0" bIns="0" rtlCol="0" anchor="ctr"/>
          <a:lstStyle/>
          <a:p>
            <a:pPr marL="0" indent="0">
              <a:buNone/>
            </a:pPr>
            <a:r>
              <a:rPr lang="en-US" sz="2000" b="1" kern="0" spc="300" dirty="0">
                <a:solidFill>
                  <a:srgbClr val="B08D57"/>
                </a:solidFill>
                <a:latin typeface="Calibri" pitchFamily="34" charset="0"/>
                <a:ea typeface="Calibri" pitchFamily="34" charset="-122"/>
                <a:cs typeface="Calibri" pitchFamily="34" charset="-120"/>
              </a:rPr>
              <a:t>PROBLEM STATEMENT</a:t>
            </a:r>
            <a:endParaRPr lang="en-US" sz="2000" dirty="0"/>
          </a:p>
        </p:txBody>
      </p:sp>
      <p:sp>
        <p:nvSpPr>
          <p:cNvPr id="4" name="Text 2"/>
          <p:cNvSpPr txBox="1"/>
          <p:nvPr/>
        </p:nvSpPr>
        <p:spPr>
          <a:xfrm>
            <a:off x="548640" y="-502920"/>
            <a:ext cx="11091672" cy="594360"/>
          </a:xfrm>
          <a:prstGeom prst="rect">
            <a:avLst/>
          </a:prstGeom>
          <a:noFill/>
          <a:ln/>
        </p:spPr>
        <p:txBody>
          <a:bodyPr wrap="square" lIns="0" tIns="0" rIns="0" bIns="0" rtlCol="0" anchor="ctr"/>
          <a:lstStyle/>
          <a:p>
            <a:pPr marL="0" indent="0">
              <a:buNone/>
            </a:pP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3</a:t>
            </a:r>
            <a:endParaRPr lang="en-US" sz="900" dirty="0"/>
          </a:p>
        </p:txBody>
      </p:sp>
      <p:sp>
        <p:nvSpPr>
          <p:cNvPr id="8" name="Text 6"/>
          <p:cNvSpPr txBox="1"/>
          <p:nvPr/>
        </p:nvSpPr>
        <p:spPr>
          <a:xfrm>
            <a:off x="603504" y="1325880"/>
            <a:ext cx="6309360" cy="1371600"/>
          </a:xfrm>
          <a:prstGeom prst="rect">
            <a:avLst/>
          </a:prstGeom>
          <a:noFill/>
          <a:ln/>
        </p:spPr>
        <p:txBody>
          <a:bodyPr wrap="square" lIns="0" tIns="0" rIns="0" bIns="0" rtlCol="0" anchor="t"/>
          <a:lstStyle/>
          <a:p>
            <a:r>
              <a:rPr lang="en-IN" sz="1400" dirty="0"/>
              <a:t>Problem: Develop a machine-learning-based approach that jointly performs channel estimation and Doppler-sensing prediction from OTFS received signal data.</a:t>
            </a:r>
          </a:p>
          <a:p>
            <a:endParaRPr lang="en-IN" sz="1400" dirty="0"/>
          </a:p>
          <a:p>
            <a:r>
              <a:rPr lang="en-IN" sz="1400" dirty="0"/>
              <a:t>Proposed idea: Our project proposes a deep learning model that jointly performs OTFS channel estimation and Doppler-sensing prediction using a shared CNN-Transformer architecture.</a:t>
            </a:r>
            <a:endParaRPr lang="en-US" sz="1350" dirty="0"/>
          </a:p>
        </p:txBody>
      </p:sp>
      <p:sp>
        <p:nvSpPr>
          <p:cNvPr id="9" name="Shape 7"/>
          <p:cNvSpPr/>
          <p:nvPr/>
        </p:nvSpPr>
        <p:spPr>
          <a:xfrm>
            <a:off x="548640" y="3017520"/>
            <a:ext cx="54864" cy="594360"/>
          </a:xfrm>
          <a:prstGeom prst="rect">
            <a:avLst/>
          </a:prstGeom>
          <a:solidFill>
            <a:srgbClr val="B08D57"/>
          </a:solidFill>
          <a:ln/>
        </p:spPr>
      </p:sp>
      <p:sp>
        <p:nvSpPr>
          <p:cNvPr id="10" name="Text 8"/>
          <p:cNvSpPr txBox="1"/>
          <p:nvPr/>
        </p:nvSpPr>
        <p:spPr>
          <a:xfrm>
            <a:off x="777240" y="3017520"/>
            <a:ext cx="6035040" cy="594360"/>
          </a:xfrm>
          <a:prstGeom prst="rect">
            <a:avLst/>
          </a:prstGeom>
          <a:noFill/>
          <a:ln/>
        </p:spPr>
        <p:txBody>
          <a:bodyPr wrap="square" lIns="0" tIns="0" rIns="0" bIns="0" rtlCol="0" anchor="ctr"/>
          <a:lstStyle/>
          <a:p>
            <a:r>
              <a:rPr lang="en-IN" sz="1400" dirty="0"/>
              <a:t>Wireless channels vary rapidly due to user mobility and multipath propagation.</a:t>
            </a:r>
            <a:endParaRPr lang="en-US" sz="1250" dirty="0"/>
          </a:p>
        </p:txBody>
      </p:sp>
      <p:sp>
        <p:nvSpPr>
          <p:cNvPr id="11" name="Shape 9"/>
          <p:cNvSpPr/>
          <p:nvPr/>
        </p:nvSpPr>
        <p:spPr>
          <a:xfrm>
            <a:off x="548640" y="3794760"/>
            <a:ext cx="54864" cy="594360"/>
          </a:xfrm>
          <a:prstGeom prst="rect">
            <a:avLst/>
          </a:prstGeom>
          <a:solidFill>
            <a:srgbClr val="B08D57"/>
          </a:solidFill>
          <a:ln/>
        </p:spPr>
      </p:sp>
      <p:sp>
        <p:nvSpPr>
          <p:cNvPr id="12" name="Text 10"/>
          <p:cNvSpPr txBox="1"/>
          <p:nvPr/>
        </p:nvSpPr>
        <p:spPr>
          <a:xfrm>
            <a:off x="777240" y="3794760"/>
            <a:ext cx="6035040" cy="594360"/>
          </a:xfrm>
          <a:prstGeom prst="rect">
            <a:avLst/>
          </a:prstGeom>
          <a:noFill/>
          <a:ln/>
        </p:spPr>
        <p:txBody>
          <a:bodyPr wrap="square" lIns="0" tIns="0" rIns="0" bIns="0" rtlCol="0" anchor="ctr"/>
          <a:lstStyle/>
          <a:p>
            <a:r>
              <a:rPr lang="en-IN" sz="1400" dirty="0"/>
              <a:t>Noise and Doppler effects make accurate channel estimation difficult.</a:t>
            </a:r>
            <a:endParaRPr lang="en-US" sz="1250" dirty="0"/>
          </a:p>
        </p:txBody>
      </p:sp>
      <p:sp>
        <p:nvSpPr>
          <p:cNvPr id="13" name="Shape 11"/>
          <p:cNvSpPr/>
          <p:nvPr/>
        </p:nvSpPr>
        <p:spPr>
          <a:xfrm>
            <a:off x="548640" y="4572000"/>
            <a:ext cx="54864" cy="594360"/>
          </a:xfrm>
          <a:prstGeom prst="rect">
            <a:avLst/>
          </a:prstGeom>
          <a:solidFill>
            <a:srgbClr val="B08D57"/>
          </a:solidFill>
          <a:ln/>
        </p:spPr>
      </p:sp>
      <p:sp>
        <p:nvSpPr>
          <p:cNvPr id="14" name="Text 12"/>
          <p:cNvSpPr txBox="1"/>
          <p:nvPr/>
        </p:nvSpPr>
        <p:spPr>
          <a:xfrm>
            <a:off x="777240" y="4572000"/>
            <a:ext cx="6035040" cy="594360"/>
          </a:xfrm>
          <a:prstGeom prst="rect">
            <a:avLst/>
          </a:prstGeom>
          <a:noFill/>
          <a:ln/>
        </p:spPr>
        <p:txBody>
          <a:bodyPr wrap="square" lIns="0" tIns="0" rIns="0" bIns="0" rtlCol="0" anchor="ctr"/>
          <a:lstStyle/>
          <a:p>
            <a:r>
              <a:rPr lang="en-IN" sz="1400" dirty="0"/>
              <a:t>Separate channel estimation and Doppler prediction can require additional processing.</a:t>
            </a:r>
            <a:endParaRPr lang="en-US" sz="1250" dirty="0"/>
          </a:p>
        </p:txBody>
      </p:sp>
      <p:sp>
        <p:nvSpPr>
          <p:cNvPr id="15" name="Shape 13"/>
          <p:cNvSpPr/>
          <p:nvPr/>
        </p:nvSpPr>
        <p:spPr>
          <a:xfrm>
            <a:off x="548640" y="5349240"/>
            <a:ext cx="54864" cy="594360"/>
          </a:xfrm>
          <a:prstGeom prst="rect">
            <a:avLst/>
          </a:prstGeom>
          <a:solidFill>
            <a:srgbClr val="B08D57"/>
          </a:solidFill>
          <a:ln/>
        </p:spPr>
      </p:sp>
      <p:sp>
        <p:nvSpPr>
          <p:cNvPr id="16" name="Text 14"/>
          <p:cNvSpPr txBox="1"/>
          <p:nvPr/>
        </p:nvSpPr>
        <p:spPr>
          <a:xfrm>
            <a:off x="777240" y="5349240"/>
            <a:ext cx="6035040" cy="594360"/>
          </a:xfrm>
          <a:prstGeom prst="rect">
            <a:avLst/>
          </a:prstGeom>
          <a:noFill/>
          <a:ln/>
        </p:spPr>
        <p:txBody>
          <a:bodyPr wrap="square" lIns="0" tIns="0" rIns="0" bIns="0" rtlCol="0" anchor="ctr"/>
          <a:lstStyle/>
          <a:p>
            <a:r>
              <a:rPr lang="en-IN" sz="1400" dirty="0"/>
              <a:t>A joint CNN-Transformer model is explored to learn shared features for both tasks.</a:t>
            </a:r>
            <a:endParaRPr lang="en-US" sz="1250" dirty="0"/>
          </a:p>
        </p:txBody>
      </p:sp>
      <p:pic>
        <p:nvPicPr>
          <p:cNvPr id="21" name="Picture 20">
            <a:extLst>
              <a:ext uri="{FF2B5EF4-FFF2-40B4-BE49-F238E27FC236}">
                <a16:creationId xmlns:a16="http://schemas.microsoft.com/office/drawing/2014/main" id="{8F3E76CC-CE27-E690-08DF-173A60091E91}"/>
              </a:ext>
            </a:extLst>
          </p:cNvPr>
          <p:cNvPicPr>
            <a:picLocks noChangeAspect="1"/>
          </p:cNvPicPr>
          <p:nvPr/>
        </p:nvPicPr>
        <p:blipFill>
          <a:blip r:embed="rId3"/>
          <a:stretch>
            <a:fillRect/>
          </a:stretch>
        </p:blipFill>
        <p:spPr>
          <a:xfrm>
            <a:off x="6745857" y="1154205"/>
            <a:ext cx="5443095" cy="51896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PROPOSED METHODOLOGY</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r>
              <a:rPr lang="en-IN" sz="2800" b="1" dirty="0">
                <a:solidFill>
                  <a:schemeClr val="bg1"/>
                </a:solidFill>
              </a:rPr>
              <a:t>A Joint CNN-Transformer Approach</a:t>
            </a:r>
            <a:endParaRPr lang="en-US" sz="2600" b="1" dirty="0">
              <a:solidFill>
                <a:schemeClr val="bg1"/>
              </a:solidFill>
            </a:endParaRPr>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4</a:t>
            </a:r>
            <a:endParaRPr lang="en-US" sz="900" dirty="0"/>
          </a:p>
        </p:txBody>
      </p:sp>
      <p:sp>
        <p:nvSpPr>
          <p:cNvPr id="8" name="Text 6"/>
          <p:cNvSpPr txBox="1"/>
          <p:nvPr/>
        </p:nvSpPr>
        <p:spPr>
          <a:xfrm>
            <a:off x="548640" y="1463040"/>
            <a:ext cx="11091672" cy="914400"/>
          </a:xfrm>
          <a:prstGeom prst="rect">
            <a:avLst/>
          </a:prstGeom>
          <a:noFill/>
          <a:ln/>
        </p:spPr>
        <p:txBody>
          <a:bodyPr wrap="square" lIns="0" tIns="0" rIns="0" bIns="0" rtlCol="0" anchor="t"/>
          <a:lstStyle/>
          <a:p>
            <a:r>
              <a:rPr lang="en-IN" sz="1400" dirty="0"/>
              <a:t>The proposed approach uses a Convolutional Neural Network (CNN) to extract local features from the OTFS delay-Doppler input. These features are converted into tokens and processed by a Transformer encoder to learn relationships between different delay-Doppler bins. The shared representation is used for channel estimation and Doppler-related prediction.</a:t>
            </a:r>
            <a:endParaRPr lang="en-US" sz="1400" dirty="0"/>
          </a:p>
        </p:txBody>
      </p:sp>
      <p:sp>
        <p:nvSpPr>
          <p:cNvPr id="9" name="Shape 7"/>
          <p:cNvSpPr/>
          <p:nvPr/>
        </p:nvSpPr>
        <p:spPr>
          <a:xfrm>
            <a:off x="548640" y="2697480"/>
            <a:ext cx="5440680" cy="1325880"/>
          </a:xfrm>
          <a:prstGeom prst="rect">
            <a:avLst/>
          </a:prstGeom>
          <a:solidFill>
            <a:srgbClr val="F3F4F6"/>
          </a:solidFill>
          <a:ln w="9525">
            <a:solidFill>
              <a:srgbClr val="C9CED6"/>
            </a:solidFill>
            <a:prstDash val="solid"/>
          </a:ln>
        </p:spPr>
      </p:sp>
      <p:sp>
        <p:nvSpPr>
          <p:cNvPr id="10" name="Shape 8"/>
          <p:cNvSpPr/>
          <p:nvPr/>
        </p:nvSpPr>
        <p:spPr>
          <a:xfrm>
            <a:off x="548640" y="2697480"/>
            <a:ext cx="82296" cy="1325880"/>
          </a:xfrm>
          <a:prstGeom prst="rect">
            <a:avLst/>
          </a:prstGeom>
          <a:solidFill>
            <a:srgbClr val="14213D"/>
          </a:solidFill>
          <a:ln/>
        </p:spPr>
      </p:sp>
      <p:sp>
        <p:nvSpPr>
          <p:cNvPr id="11" name="Text 9"/>
          <p:cNvSpPr txBox="1"/>
          <p:nvPr/>
        </p:nvSpPr>
        <p:spPr>
          <a:xfrm>
            <a:off x="868680" y="2834640"/>
            <a:ext cx="4892040" cy="365760"/>
          </a:xfrm>
          <a:prstGeom prst="rect">
            <a:avLst/>
          </a:prstGeom>
          <a:noFill/>
          <a:ln/>
        </p:spPr>
        <p:txBody>
          <a:bodyPr wrap="square" lIns="0" tIns="0" rIns="0" bIns="0" rtlCol="0" anchor="ctr"/>
          <a:lstStyle/>
          <a:p>
            <a:r>
              <a:rPr lang="en-IN" sz="1600" dirty="0"/>
              <a:t>CNN FEATURE EXTRACTION</a:t>
            </a:r>
            <a:endParaRPr lang="en-US" sz="1500" dirty="0"/>
          </a:p>
        </p:txBody>
      </p:sp>
      <p:sp>
        <p:nvSpPr>
          <p:cNvPr id="12" name="Text 10"/>
          <p:cNvSpPr txBox="1"/>
          <p:nvPr/>
        </p:nvSpPr>
        <p:spPr>
          <a:xfrm>
            <a:off x="868680" y="3227832"/>
            <a:ext cx="4892040" cy="731520"/>
          </a:xfrm>
          <a:prstGeom prst="rect">
            <a:avLst/>
          </a:prstGeom>
          <a:noFill/>
          <a:ln/>
        </p:spPr>
        <p:txBody>
          <a:bodyPr wrap="square" lIns="0" tIns="0" rIns="0" bIns="0" rtlCol="0" anchor="t"/>
          <a:lstStyle/>
          <a:p>
            <a:r>
              <a:rPr lang="en-IN" sz="1200" dirty="0"/>
              <a:t>Extracts local patterns and features from the received OTFS signal.</a:t>
            </a:r>
            <a:endParaRPr lang="en-US" sz="1200" dirty="0"/>
          </a:p>
        </p:txBody>
      </p:sp>
      <p:sp>
        <p:nvSpPr>
          <p:cNvPr id="13" name="Shape 11"/>
          <p:cNvSpPr/>
          <p:nvPr/>
        </p:nvSpPr>
        <p:spPr>
          <a:xfrm>
            <a:off x="6263640" y="2697480"/>
            <a:ext cx="5440680" cy="1325880"/>
          </a:xfrm>
          <a:prstGeom prst="rect">
            <a:avLst/>
          </a:prstGeom>
          <a:solidFill>
            <a:srgbClr val="F3F4F6"/>
          </a:solidFill>
          <a:ln w="9525">
            <a:solidFill>
              <a:srgbClr val="C9CED6"/>
            </a:solidFill>
            <a:prstDash val="solid"/>
          </a:ln>
        </p:spPr>
      </p:sp>
      <p:sp>
        <p:nvSpPr>
          <p:cNvPr id="14" name="Shape 12"/>
          <p:cNvSpPr/>
          <p:nvPr/>
        </p:nvSpPr>
        <p:spPr>
          <a:xfrm>
            <a:off x="6263640" y="2697480"/>
            <a:ext cx="82296" cy="1325880"/>
          </a:xfrm>
          <a:prstGeom prst="rect">
            <a:avLst/>
          </a:prstGeom>
          <a:solidFill>
            <a:srgbClr val="14213D"/>
          </a:solidFill>
          <a:ln/>
        </p:spPr>
      </p:sp>
      <p:sp>
        <p:nvSpPr>
          <p:cNvPr id="15" name="Text 13"/>
          <p:cNvSpPr txBox="1"/>
          <p:nvPr/>
        </p:nvSpPr>
        <p:spPr>
          <a:xfrm>
            <a:off x="6583680" y="2834640"/>
            <a:ext cx="4892040" cy="365760"/>
          </a:xfrm>
          <a:prstGeom prst="rect">
            <a:avLst/>
          </a:prstGeom>
          <a:noFill/>
          <a:ln/>
        </p:spPr>
        <p:txBody>
          <a:bodyPr wrap="square" lIns="0" tIns="0" rIns="0" bIns="0" rtlCol="0" anchor="ctr"/>
          <a:lstStyle/>
          <a:p>
            <a:r>
              <a:rPr lang="en-IN" sz="1600" dirty="0"/>
              <a:t>TRANSFORMER ENCODER</a:t>
            </a:r>
            <a:endParaRPr lang="en-US" sz="1500" dirty="0"/>
          </a:p>
        </p:txBody>
      </p:sp>
      <p:sp>
        <p:nvSpPr>
          <p:cNvPr id="16" name="Text 14"/>
          <p:cNvSpPr txBox="1"/>
          <p:nvPr/>
        </p:nvSpPr>
        <p:spPr>
          <a:xfrm>
            <a:off x="6583680" y="3227832"/>
            <a:ext cx="4892040" cy="731520"/>
          </a:xfrm>
          <a:prstGeom prst="rect">
            <a:avLst/>
          </a:prstGeom>
          <a:noFill/>
          <a:ln/>
        </p:spPr>
        <p:txBody>
          <a:bodyPr wrap="square" lIns="0" tIns="0" rIns="0" bIns="0" rtlCol="0" anchor="t"/>
          <a:lstStyle/>
          <a:p>
            <a:r>
              <a:rPr lang="en-IN" sz="1200" dirty="0"/>
              <a:t>Learns long-range relationships between delay-Doppler bins using attention.</a:t>
            </a:r>
            <a:endParaRPr lang="en-US" sz="1200" dirty="0"/>
          </a:p>
        </p:txBody>
      </p:sp>
      <p:sp>
        <p:nvSpPr>
          <p:cNvPr id="17" name="Shape 15"/>
          <p:cNvSpPr/>
          <p:nvPr/>
        </p:nvSpPr>
        <p:spPr>
          <a:xfrm>
            <a:off x="548640" y="4251960"/>
            <a:ext cx="5440680" cy="1325880"/>
          </a:xfrm>
          <a:prstGeom prst="rect">
            <a:avLst/>
          </a:prstGeom>
          <a:solidFill>
            <a:srgbClr val="F3F4F6"/>
          </a:solidFill>
          <a:ln w="9525">
            <a:solidFill>
              <a:srgbClr val="C9CED6"/>
            </a:solidFill>
            <a:prstDash val="solid"/>
          </a:ln>
        </p:spPr>
      </p:sp>
      <p:sp>
        <p:nvSpPr>
          <p:cNvPr id="18" name="Shape 16"/>
          <p:cNvSpPr/>
          <p:nvPr/>
        </p:nvSpPr>
        <p:spPr>
          <a:xfrm>
            <a:off x="548640" y="4251960"/>
            <a:ext cx="82296" cy="1325880"/>
          </a:xfrm>
          <a:prstGeom prst="rect">
            <a:avLst/>
          </a:prstGeom>
          <a:solidFill>
            <a:srgbClr val="14213D"/>
          </a:solidFill>
          <a:ln/>
        </p:spPr>
      </p:sp>
      <p:sp>
        <p:nvSpPr>
          <p:cNvPr id="19" name="Text 17"/>
          <p:cNvSpPr txBox="1"/>
          <p:nvPr/>
        </p:nvSpPr>
        <p:spPr>
          <a:xfrm>
            <a:off x="868680" y="4389120"/>
            <a:ext cx="4892040" cy="365760"/>
          </a:xfrm>
          <a:prstGeom prst="rect">
            <a:avLst/>
          </a:prstGeom>
          <a:noFill/>
          <a:ln/>
        </p:spPr>
        <p:txBody>
          <a:bodyPr wrap="square" lIns="0" tIns="0" rIns="0" bIns="0" rtlCol="0" anchor="ctr"/>
          <a:lstStyle/>
          <a:p>
            <a:r>
              <a:rPr lang="en-IN" sz="1600" dirty="0"/>
              <a:t>MULTI-TASK LEARNING</a:t>
            </a:r>
            <a:endParaRPr lang="en-US" sz="1500" dirty="0"/>
          </a:p>
        </p:txBody>
      </p:sp>
      <p:sp>
        <p:nvSpPr>
          <p:cNvPr id="20" name="Text 18"/>
          <p:cNvSpPr txBox="1"/>
          <p:nvPr/>
        </p:nvSpPr>
        <p:spPr>
          <a:xfrm>
            <a:off x="868680" y="4782312"/>
            <a:ext cx="4892040" cy="731520"/>
          </a:xfrm>
          <a:prstGeom prst="rect">
            <a:avLst/>
          </a:prstGeom>
          <a:noFill/>
          <a:ln/>
        </p:spPr>
        <p:txBody>
          <a:bodyPr wrap="square" lIns="0" tIns="0" rIns="0" bIns="0" rtlCol="0" anchor="t"/>
          <a:lstStyle/>
          <a:p>
            <a:r>
              <a:rPr lang="en-IN" sz="1200" dirty="0"/>
              <a:t>Uses shared features for channel estimation and Doppler prediction.</a:t>
            </a:r>
          </a:p>
        </p:txBody>
      </p:sp>
      <p:sp>
        <p:nvSpPr>
          <p:cNvPr id="21" name="Shape 19"/>
          <p:cNvSpPr/>
          <p:nvPr/>
        </p:nvSpPr>
        <p:spPr>
          <a:xfrm>
            <a:off x="6263640" y="4251960"/>
            <a:ext cx="5440680" cy="1325880"/>
          </a:xfrm>
          <a:prstGeom prst="rect">
            <a:avLst/>
          </a:prstGeom>
          <a:solidFill>
            <a:srgbClr val="F3F4F6"/>
          </a:solidFill>
          <a:ln w="9525">
            <a:solidFill>
              <a:srgbClr val="C9CED6"/>
            </a:solidFill>
            <a:prstDash val="solid"/>
          </a:ln>
        </p:spPr>
      </p:sp>
      <p:sp>
        <p:nvSpPr>
          <p:cNvPr id="22" name="Shape 20"/>
          <p:cNvSpPr/>
          <p:nvPr/>
        </p:nvSpPr>
        <p:spPr>
          <a:xfrm>
            <a:off x="6263640" y="4251960"/>
            <a:ext cx="82296" cy="1325880"/>
          </a:xfrm>
          <a:prstGeom prst="rect">
            <a:avLst/>
          </a:prstGeom>
          <a:solidFill>
            <a:srgbClr val="14213D"/>
          </a:solidFill>
          <a:ln/>
        </p:spPr>
      </p:sp>
      <p:sp>
        <p:nvSpPr>
          <p:cNvPr id="23" name="Text 21"/>
          <p:cNvSpPr txBox="1"/>
          <p:nvPr/>
        </p:nvSpPr>
        <p:spPr>
          <a:xfrm>
            <a:off x="6583680" y="4389120"/>
            <a:ext cx="4892040" cy="365760"/>
          </a:xfrm>
          <a:prstGeom prst="rect">
            <a:avLst/>
          </a:prstGeom>
          <a:noFill/>
          <a:ln/>
        </p:spPr>
        <p:txBody>
          <a:bodyPr wrap="square" lIns="0" tIns="0" rIns="0" bIns="0" rtlCol="0" anchor="ctr"/>
          <a:lstStyle/>
          <a:p>
            <a:r>
              <a:rPr lang="en-IN" sz="1600" dirty="0"/>
              <a:t>JOINT PREDICTION</a:t>
            </a:r>
            <a:endParaRPr lang="en-US" sz="1500" dirty="0"/>
          </a:p>
        </p:txBody>
      </p:sp>
      <p:sp>
        <p:nvSpPr>
          <p:cNvPr id="24" name="Text 22"/>
          <p:cNvSpPr txBox="1"/>
          <p:nvPr/>
        </p:nvSpPr>
        <p:spPr>
          <a:xfrm>
            <a:off x="6583680" y="4782312"/>
            <a:ext cx="4892040" cy="731520"/>
          </a:xfrm>
          <a:prstGeom prst="rect">
            <a:avLst/>
          </a:prstGeom>
          <a:noFill/>
          <a:ln/>
        </p:spPr>
        <p:txBody>
          <a:bodyPr wrap="square" lIns="0" tIns="0" rIns="0" bIns="0" rtlCol="0" anchor="t"/>
          <a:lstStyle/>
          <a:p>
            <a:r>
              <a:rPr lang="en-IN" sz="1200" dirty="0"/>
              <a:t>Produces channel response estimates and Doppler-related predictions.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ALGORITHM</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Architecture and Training Pipeline</a:t>
            </a: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5</a:t>
            </a:r>
            <a:endParaRPr lang="en-US" sz="900" dirty="0"/>
          </a:p>
        </p:txBody>
      </p:sp>
      <p:sp>
        <p:nvSpPr>
          <p:cNvPr id="8" name="Text 6"/>
          <p:cNvSpPr txBox="1"/>
          <p:nvPr/>
        </p:nvSpPr>
        <p:spPr>
          <a:xfrm>
            <a:off x="548640" y="1463040"/>
            <a:ext cx="11091672" cy="457200"/>
          </a:xfrm>
          <a:prstGeom prst="rect">
            <a:avLst/>
          </a:prstGeom>
          <a:noFill/>
          <a:ln/>
        </p:spPr>
        <p:txBody>
          <a:bodyPr wrap="square" lIns="0" tIns="0" rIns="0" bIns="0" rtlCol="0" anchor="t"/>
          <a:lstStyle/>
          <a:p>
            <a:r>
              <a:rPr lang="en-IN" sz="1400" dirty="0"/>
              <a:t>The architecture combines CNN-based feature extraction and Transformer-based sequence modelling. The extracted features are used by separate output heads for channel estimation and Doppler prediction.</a:t>
            </a:r>
            <a:endParaRPr lang="en-US" sz="1400" dirty="0"/>
          </a:p>
        </p:txBody>
      </p:sp>
      <p:sp>
        <p:nvSpPr>
          <p:cNvPr id="9" name="Shape 7"/>
          <p:cNvSpPr/>
          <p:nvPr/>
        </p:nvSpPr>
        <p:spPr>
          <a:xfrm>
            <a:off x="548640" y="2194560"/>
            <a:ext cx="2514600" cy="2468880"/>
          </a:xfrm>
          <a:prstGeom prst="rect">
            <a:avLst/>
          </a:prstGeom>
          <a:solidFill>
            <a:srgbClr val="FFFFFF"/>
          </a:solidFill>
          <a:ln w="12700">
            <a:solidFill>
              <a:srgbClr val="14213D"/>
            </a:solidFill>
            <a:prstDash val="solid"/>
          </a:ln>
        </p:spPr>
      </p:sp>
      <p:sp>
        <p:nvSpPr>
          <p:cNvPr id="10" name="Shape 8"/>
          <p:cNvSpPr/>
          <p:nvPr/>
        </p:nvSpPr>
        <p:spPr>
          <a:xfrm>
            <a:off x="548640" y="2194560"/>
            <a:ext cx="2514600" cy="502920"/>
          </a:xfrm>
          <a:prstGeom prst="rect">
            <a:avLst/>
          </a:prstGeom>
          <a:solidFill>
            <a:srgbClr val="14213D"/>
          </a:solidFill>
          <a:ln/>
        </p:spPr>
      </p:sp>
      <p:sp>
        <p:nvSpPr>
          <p:cNvPr id="11" name="Text 9"/>
          <p:cNvSpPr txBox="1"/>
          <p:nvPr/>
        </p:nvSpPr>
        <p:spPr>
          <a:xfrm>
            <a:off x="548640" y="2194560"/>
            <a:ext cx="2514600" cy="502920"/>
          </a:xfrm>
          <a:prstGeom prst="rect">
            <a:avLst/>
          </a:prstGeom>
          <a:noFill/>
          <a:ln/>
        </p:spPr>
        <p:txBody>
          <a:bodyPr wrap="square" lIns="0" tIns="0" rIns="0" bIns="0" rtlCol="0" anchor="ctr"/>
          <a:lstStyle/>
          <a:p>
            <a:pPr marL="0" indent="0" algn="ctr">
              <a:buNone/>
            </a:pPr>
            <a:r>
              <a:rPr lang="en-US" sz="1100" b="1" kern="0" spc="200" dirty="0">
                <a:solidFill>
                  <a:srgbClr val="B08D57"/>
                </a:solidFill>
                <a:latin typeface="Calibri" pitchFamily="34" charset="0"/>
                <a:ea typeface="Calibri" pitchFamily="34" charset="-122"/>
                <a:cs typeface="Calibri" pitchFamily="34" charset="-120"/>
              </a:rPr>
              <a:t>STAGE 1</a:t>
            </a:r>
            <a:endParaRPr lang="en-US" sz="1100" dirty="0"/>
          </a:p>
        </p:txBody>
      </p:sp>
      <p:sp>
        <p:nvSpPr>
          <p:cNvPr id="12" name="Text 10"/>
          <p:cNvSpPr txBox="1"/>
          <p:nvPr/>
        </p:nvSpPr>
        <p:spPr>
          <a:xfrm>
            <a:off x="731520" y="2834640"/>
            <a:ext cx="2148840" cy="457200"/>
          </a:xfrm>
          <a:prstGeom prst="rect">
            <a:avLst/>
          </a:prstGeom>
          <a:noFill/>
          <a:ln/>
        </p:spPr>
        <p:txBody>
          <a:bodyPr wrap="square" lIns="0" tIns="0" rIns="0" bIns="0" rtlCol="0" anchor="ctr"/>
          <a:lstStyle/>
          <a:p>
            <a:pPr algn="ctr"/>
            <a:r>
              <a:rPr lang="en-IN" sz="1400" dirty="0"/>
              <a:t>OTFS Input</a:t>
            </a:r>
            <a:endParaRPr lang="en-US" sz="1400" dirty="0"/>
          </a:p>
        </p:txBody>
      </p:sp>
      <p:sp>
        <p:nvSpPr>
          <p:cNvPr id="13" name="Text 11"/>
          <p:cNvSpPr txBox="1"/>
          <p:nvPr/>
        </p:nvSpPr>
        <p:spPr>
          <a:xfrm>
            <a:off x="777240" y="3383280"/>
            <a:ext cx="2057400" cy="1143000"/>
          </a:xfrm>
          <a:prstGeom prst="rect">
            <a:avLst/>
          </a:prstGeom>
          <a:noFill/>
          <a:ln/>
        </p:spPr>
        <p:txBody>
          <a:bodyPr wrap="square" lIns="0" tIns="0" rIns="0" bIns="0" rtlCol="0" anchor="t"/>
          <a:lstStyle/>
          <a:p>
            <a:pPr algn="ctr"/>
            <a:r>
              <a:rPr lang="en-IN" sz="1200" dirty="0"/>
              <a:t>Prepare the received delay-Doppler grid with real and imaginary components.</a:t>
            </a:r>
            <a:endParaRPr lang="en-US" sz="1200" dirty="0"/>
          </a:p>
        </p:txBody>
      </p:sp>
      <p:sp>
        <p:nvSpPr>
          <p:cNvPr id="14" name="Shape 12"/>
          <p:cNvSpPr/>
          <p:nvPr/>
        </p:nvSpPr>
        <p:spPr>
          <a:xfrm>
            <a:off x="3118104" y="3310128"/>
            <a:ext cx="256032" cy="237744"/>
          </a:xfrm>
          <a:prstGeom prst="rightArrow">
            <a:avLst/>
          </a:prstGeom>
          <a:solidFill>
            <a:srgbClr val="B08D57"/>
          </a:solidFill>
          <a:ln/>
        </p:spPr>
      </p:sp>
      <p:sp>
        <p:nvSpPr>
          <p:cNvPr id="15" name="Shape 13"/>
          <p:cNvSpPr/>
          <p:nvPr/>
        </p:nvSpPr>
        <p:spPr>
          <a:xfrm>
            <a:off x="3429000" y="2194560"/>
            <a:ext cx="2514600" cy="2468880"/>
          </a:xfrm>
          <a:prstGeom prst="rect">
            <a:avLst/>
          </a:prstGeom>
          <a:solidFill>
            <a:srgbClr val="FFFFFF"/>
          </a:solidFill>
          <a:ln w="12700">
            <a:solidFill>
              <a:srgbClr val="14213D"/>
            </a:solidFill>
            <a:prstDash val="solid"/>
          </a:ln>
        </p:spPr>
      </p:sp>
      <p:sp>
        <p:nvSpPr>
          <p:cNvPr id="16" name="Shape 14"/>
          <p:cNvSpPr/>
          <p:nvPr/>
        </p:nvSpPr>
        <p:spPr>
          <a:xfrm>
            <a:off x="3429000" y="2194560"/>
            <a:ext cx="2514600" cy="502920"/>
          </a:xfrm>
          <a:prstGeom prst="rect">
            <a:avLst/>
          </a:prstGeom>
          <a:solidFill>
            <a:srgbClr val="14213D"/>
          </a:solidFill>
          <a:ln/>
        </p:spPr>
      </p:sp>
      <p:sp>
        <p:nvSpPr>
          <p:cNvPr id="17" name="Text 15"/>
          <p:cNvSpPr txBox="1"/>
          <p:nvPr/>
        </p:nvSpPr>
        <p:spPr>
          <a:xfrm>
            <a:off x="3429000" y="2194560"/>
            <a:ext cx="2514600" cy="502920"/>
          </a:xfrm>
          <a:prstGeom prst="rect">
            <a:avLst/>
          </a:prstGeom>
          <a:noFill/>
          <a:ln/>
        </p:spPr>
        <p:txBody>
          <a:bodyPr wrap="square" lIns="0" tIns="0" rIns="0" bIns="0" rtlCol="0" anchor="ctr"/>
          <a:lstStyle/>
          <a:p>
            <a:pPr marL="0" indent="0" algn="ctr">
              <a:buNone/>
            </a:pPr>
            <a:r>
              <a:rPr lang="en-US" sz="1100" b="1" kern="0" spc="200" dirty="0">
                <a:solidFill>
                  <a:srgbClr val="B08D57"/>
                </a:solidFill>
                <a:latin typeface="Calibri" pitchFamily="34" charset="0"/>
                <a:ea typeface="Calibri" pitchFamily="34" charset="-122"/>
                <a:cs typeface="Calibri" pitchFamily="34" charset="-120"/>
              </a:rPr>
              <a:t>STAGE 2</a:t>
            </a:r>
            <a:endParaRPr lang="en-US" sz="1100" dirty="0"/>
          </a:p>
        </p:txBody>
      </p:sp>
      <p:sp>
        <p:nvSpPr>
          <p:cNvPr id="18" name="Text 16"/>
          <p:cNvSpPr txBox="1"/>
          <p:nvPr/>
        </p:nvSpPr>
        <p:spPr>
          <a:xfrm>
            <a:off x="3611880" y="2834640"/>
            <a:ext cx="2148840" cy="457200"/>
          </a:xfrm>
          <a:prstGeom prst="rect">
            <a:avLst/>
          </a:prstGeom>
          <a:noFill/>
          <a:ln/>
        </p:spPr>
        <p:txBody>
          <a:bodyPr wrap="square" lIns="0" tIns="0" rIns="0" bIns="0" rtlCol="0" anchor="ctr"/>
          <a:lstStyle/>
          <a:p>
            <a:pPr algn="ctr"/>
            <a:r>
              <a:rPr lang="en-IN" sz="1400" dirty="0"/>
              <a:t>CNN Encoder</a:t>
            </a:r>
            <a:endParaRPr lang="en-US" sz="1400" dirty="0"/>
          </a:p>
        </p:txBody>
      </p:sp>
      <p:sp>
        <p:nvSpPr>
          <p:cNvPr id="19" name="Text 17"/>
          <p:cNvSpPr txBox="1"/>
          <p:nvPr/>
        </p:nvSpPr>
        <p:spPr>
          <a:xfrm>
            <a:off x="3657600" y="3383280"/>
            <a:ext cx="2057400" cy="1143000"/>
          </a:xfrm>
          <a:prstGeom prst="rect">
            <a:avLst/>
          </a:prstGeom>
          <a:noFill/>
          <a:ln/>
        </p:spPr>
        <p:txBody>
          <a:bodyPr wrap="square" lIns="0" tIns="0" rIns="0" bIns="0" rtlCol="0" anchor="t"/>
          <a:lstStyle/>
          <a:p>
            <a:pPr algn="ctr"/>
            <a:r>
              <a:rPr lang="en-IN" sz="1200" dirty="0"/>
              <a:t>Extract local channel features using convolutional layers.</a:t>
            </a:r>
            <a:endParaRPr lang="en-US" sz="1200" dirty="0"/>
          </a:p>
        </p:txBody>
      </p:sp>
      <p:sp>
        <p:nvSpPr>
          <p:cNvPr id="20" name="Shape 18"/>
          <p:cNvSpPr/>
          <p:nvPr/>
        </p:nvSpPr>
        <p:spPr>
          <a:xfrm>
            <a:off x="5998464" y="3310128"/>
            <a:ext cx="256032" cy="237744"/>
          </a:xfrm>
          <a:prstGeom prst="rightArrow">
            <a:avLst/>
          </a:prstGeom>
          <a:solidFill>
            <a:srgbClr val="B08D57"/>
          </a:solidFill>
          <a:ln/>
        </p:spPr>
      </p:sp>
      <p:sp>
        <p:nvSpPr>
          <p:cNvPr id="21" name="Shape 19"/>
          <p:cNvSpPr/>
          <p:nvPr/>
        </p:nvSpPr>
        <p:spPr>
          <a:xfrm>
            <a:off x="6309360" y="2194560"/>
            <a:ext cx="2514600" cy="2468880"/>
          </a:xfrm>
          <a:prstGeom prst="rect">
            <a:avLst/>
          </a:prstGeom>
          <a:solidFill>
            <a:srgbClr val="FFFFFF"/>
          </a:solidFill>
          <a:ln w="12700">
            <a:solidFill>
              <a:srgbClr val="14213D"/>
            </a:solidFill>
            <a:prstDash val="solid"/>
          </a:ln>
        </p:spPr>
      </p:sp>
      <p:sp>
        <p:nvSpPr>
          <p:cNvPr id="22" name="Shape 20"/>
          <p:cNvSpPr/>
          <p:nvPr/>
        </p:nvSpPr>
        <p:spPr>
          <a:xfrm>
            <a:off x="6309360" y="2194560"/>
            <a:ext cx="2514600" cy="502920"/>
          </a:xfrm>
          <a:prstGeom prst="rect">
            <a:avLst/>
          </a:prstGeom>
          <a:solidFill>
            <a:srgbClr val="14213D"/>
          </a:solidFill>
          <a:ln/>
        </p:spPr>
      </p:sp>
      <p:sp>
        <p:nvSpPr>
          <p:cNvPr id="23" name="Text 21"/>
          <p:cNvSpPr txBox="1"/>
          <p:nvPr/>
        </p:nvSpPr>
        <p:spPr>
          <a:xfrm>
            <a:off x="6309360" y="2194560"/>
            <a:ext cx="2514600" cy="502920"/>
          </a:xfrm>
          <a:prstGeom prst="rect">
            <a:avLst/>
          </a:prstGeom>
          <a:noFill/>
          <a:ln/>
        </p:spPr>
        <p:txBody>
          <a:bodyPr wrap="square" lIns="0" tIns="0" rIns="0" bIns="0" rtlCol="0" anchor="ctr"/>
          <a:lstStyle/>
          <a:p>
            <a:pPr marL="0" indent="0" algn="ctr">
              <a:buNone/>
            </a:pPr>
            <a:r>
              <a:rPr lang="en-US" sz="1100" b="1" kern="0" spc="200" dirty="0">
                <a:solidFill>
                  <a:srgbClr val="B08D57"/>
                </a:solidFill>
                <a:latin typeface="Calibri" pitchFamily="34" charset="0"/>
                <a:ea typeface="Calibri" pitchFamily="34" charset="-122"/>
                <a:cs typeface="Calibri" pitchFamily="34" charset="-120"/>
              </a:rPr>
              <a:t>STAGE 3</a:t>
            </a:r>
            <a:endParaRPr lang="en-US" sz="1100" dirty="0"/>
          </a:p>
        </p:txBody>
      </p:sp>
      <p:sp>
        <p:nvSpPr>
          <p:cNvPr id="24" name="Text 22"/>
          <p:cNvSpPr txBox="1"/>
          <p:nvPr/>
        </p:nvSpPr>
        <p:spPr>
          <a:xfrm>
            <a:off x="6492240" y="2834640"/>
            <a:ext cx="2148840" cy="457200"/>
          </a:xfrm>
          <a:prstGeom prst="rect">
            <a:avLst/>
          </a:prstGeom>
          <a:noFill/>
          <a:ln/>
        </p:spPr>
        <p:txBody>
          <a:bodyPr wrap="square" lIns="0" tIns="0" rIns="0" bIns="0" rtlCol="0" anchor="ctr"/>
          <a:lstStyle/>
          <a:p>
            <a:pPr algn="ctr"/>
            <a:r>
              <a:rPr lang="en-IN" sz="1400" dirty="0"/>
              <a:t>Transformer Encoder</a:t>
            </a:r>
            <a:endParaRPr lang="en-US" sz="1400" dirty="0"/>
          </a:p>
        </p:txBody>
      </p:sp>
      <p:sp>
        <p:nvSpPr>
          <p:cNvPr id="25" name="Text 23"/>
          <p:cNvSpPr txBox="1"/>
          <p:nvPr/>
        </p:nvSpPr>
        <p:spPr>
          <a:xfrm>
            <a:off x="6537960" y="3383280"/>
            <a:ext cx="2057400" cy="1143000"/>
          </a:xfrm>
          <a:prstGeom prst="rect">
            <a:avLst/>
          </a:prstGeom>
          <a:noFill/>
          <a:ln/>
        </p:spPr>
        <p:txBody>
          <a:bodyPr wrap="square" lIns="0" tIns="0" rIns="0" bIns="0" rtlCol="0" anchor="t"/>
          <a:lstStyle/>
          <a:p>
            <a:pPr algn="ctr"/>
            <a:r>
              <a:rPr lang="en-IN" sz="1200" dirty="0"/>
              <a:t>Process feature tokens to learn long-range dependencies.</a:t>
            </a:r>
            <a:endParaRPr lang="en-US" sz="1200" dirty="0"/>
          </a:p>
        </p:txBody>
      </p:sp>
      <p:sp>
        <p:nvSpPr>
          <p:cNvPr id="26" name="Shape 24"/>
          <p:cNvSpPr/>
          <p:nvPr/>
        </p:nvSpPr>
        <p:spPr>
          <a:xfrm>
            <a:off x="8878824" y="3310128"/>
            <a:ext cx="256032" cy="237744"/>
          </a:xfrm>
          <a:prstGeom prst="rightArrow">
            <a:avLst/>
          </a:prstGeom>
          <a:solidFill>
            <a:srgbClr val="B08D57"/>
          </a:solidFill>
          <a:ln/>
        </p:spPr>
      </p:sp>
      <p:sp>
        <p:nvSpPr>
          <p:cNvPr id="27" name="Shape 25"/>
          <p:cNvSpPr/>
          <p:nvPr/>
        </p:nvSpPr>
        <p:spPr>
          <a:xfrm>
            <a:off x="9189720" y="2194560"/>
            <a:ext cx="2514600" cy="2468880"/>
          </a:xfrm>
          <a:prstGeom prst="rect">
            <a:avLst/>
          </a:prstGeom>
          <a:solidFill>
            <a:srgbClr val="FFFFFF"/>
          </a:solidFill>
          <a:ln w="12700">
            <a:solidFill>
              <a:srgbClr val="14213D"/>
            </a:solidFill>
            <a:prstDash val="solid"/>
          </a:ln>
        </p:spPr>
      </p:sp>
      <p:sp>
        <p:nvSpPr>
          <p:cNvPr id="28" name="Shape 26"/>
          <p:cNvSpPr/>
          <p:nvPr/>
        </p:nvSpPr>
        <p:spPr>
          <a:xfrm>
            <a:off x="9189720" y="2194560"/>
            <a:ext cx="2514600" cy="502920"/>
          </a:xfrm>
          <a:prstGeom prst="rect">
            <a:avLst/>
          </a:prstGeom>
          <a:solidFill>
            <a:srgbClr val="14213D"/>
          </a:solidFill>
          <a:ln/>
        </p:spPr>
      </p:sp>
      <p:sp>
        <p:nvSpPr>
          <p:cNvPr id="29" name="Text 27"/>
          <p:cNvSpPr txBox="1"/>
          <p:nvPr/>
        </p:nvSpPr>
        <p:spPr>
          <a:xfrm>
            <a:off x="9189720" y="2194560"/>
            <a:ext cx="2514600" cy="502920"/>
          </a:xfrm>
          <a:prstGeom prst="rect">
            <a:avLst/>
          </a:prstGeom>
          <a:noFill/>
          <a:ln/>
        </p:spPr>
        <p:txBody>
          <a:bodyPr wrap="square" lIns="0" tIns="0" rIns="0" bIns="0" rtlCol="0" anchor="ctr"/>
          <a:lstStyle/>
          <a:p>
            <a:pPr marL="0" indent="0" algn="ctr">
              <a:buNone/>
            </a:pPr>
            <a:r>
              <a:rPr lang="en-US" sz="1100" b="1" kern="0" spc="200" dirty="0">
                <a:solidFill>
                  <a:srgbClr val="B08D57"/>
                </a:solidFill>
                <a:latin typeface="Calibri" pitchFamily="34" charset="0"/>
                <a:ea typeface="Calibri" pitchFamily="34" charset="-122"/>
                <a:cs typeface="Calibri" pitchFamily="34" charset="-120"/>
              </a:rPr>
              <a:t>STAGE 4</a:t>
            </a:r>
            <a:endParaRPr lang="en-US" sz="1100" dirty="0"/>
          </a:p>
        </p:txBody>
      </p:sp>
      <p:sp>
        <p:nvSpPr>
          <p:cNvPr id="30" name="Text 28"/>
          <p:cNvSpPr txBox="1"/>
          <p:nvPr/>
        </p:nvSpPr>
        <p:spPr>
          <a:xfrm>
            <a:off x="9372600" y="2834640"/>
            <a:ext cx="2148840" cy="457200"/>
          </a:xfrm>
          <a:prstGeom prst="rect">
            <a:avLst/>
          </a:prstGeom>
          <a:noFill/>
          <a:ln/>
        </p:spPr>
        <p:txBody>
          <a:bodyPr wrap="square" lIns="0" tIns="0" rIns="0" bIns="0" rtlCol="0" anchor="ctr"/>
          <a:lstStyle/>
          <a:p>
            <a:pPr algn="ctr"/>
            <a:r>
              <a:rPr lang="en-IN" sz="1400" dirty="0"/>
              <a:t>Multi-Task Output</a:t>
            </a:r>
            <a:endParaRPr lang="en-US" sz="1400" dirty="0"/>
          </a:p>
        </p:txBody>
      </p:sp>
      <p:sp>
        <p:nvSpPr>
          <p:cNvPr id="31" name="Text 29"/>
          <p:cNvSpPr txBox="1"/>
          <p:nvPr/>
        </p:nvSpPr>
        <p:spPr>
          <a:xfrm>
            <a:off x="9418320" y="3383280"/>
            <a:ext cx="2057400" cy="1143000"/>
          </a:xfrm>
          <a:prstGeom prst="rect">
            <a:avLst/>
          </a:prstGeom>
          <a:noFill/>
          <a:ln/>
        </p:spPr>
        <p:txBody>
          <a:bodyPr wrap="square" lIns="0" tIns="0" rIns="0" bIns="0" rtlCol="0" anchor="t"/>
          <a:lstStyle/>
          <a:p>
            <a:pPr algn="ctr"/>
            <a:r>
              <a:rPr lang="en-IN" sz="1200" dirty="0"/>
              <a:t>Predict the channel response and Doppler-related information.</a:t>
            </a:r>
            <a:endParaRPr lang="en-US" sz="1200" dirty="0"/>
          </a:p>
        </p:txBody>
      </p:sp>
      <p:sp>
        <p:nvSpPr>
          <p:cNvPr id="32" name="Text 30"/>
          <p:cNvSpPr txBox="1"/>
          <p:nvPr/>
        </p:nvSpPr>
        <p:spPr>
          <a:xfrm>
            <a:off x="548640" y="5143500"/>
            <a:ext cx="11091672" cy="731520"/>
          </a:xfrm>
          <a:prstGeom prst="rect">
            <a:avLst/>
          </a:prstGeom>
          <a:noFill/>
          <a:ln/>
        </p:spPr>
        <p:txBody>
          <a:bodyPr wrap="square" lIns="0" tIns="0" rIns="0" bIns="0" rtlCol="0" anchor="t"/>
          <a:lstStyle/>
          <a:p>
            <a:r>
              <a:rPr lang="en-US" sz="1200" b="1" dirty="0">
                <a:solidFill>
                  <a:srgbClr val="2B2F3A"/>
                </a:solidFill>
                <a:latin typeface="Calibri" pitchFamily="34" charset="0"/>
                <a:ea typeface="Calibri" pitchFamily="34" charset="-122"/>
                <a:cs typeface="Calibri" pitchFamily="34" charset="-120"/>
              </a:rPr>
              <a:t>Backbone</a:t>
            </a:r>
            <a:r>
              <a:rPr lang="en-US" sz="1200" dirty="0">
                <a:solidFill>
                  <a:srgbClr val="2B2F3A"/>
                </a:solidFill>
                <a:latin typeface="Calibri" pitchFamily="34" charset="0"/>
                <a:ea typeface="Calibri" pitchFamily="34" charset="-122"/>
                <a:cs typeface="Calibri" pitchFamily="34" charset="-120"/>
              </a:rPr>
              <a:t>: </a:t>
            </a:r>
            <a:r>
              <a:rPr lang="en-IN" sz="1200" dirty="0"/>
              <a:t>CNN feature extractor followed by Transformer encoder.</a:t>
            </a:r>
          </a:p>
          <a:p>
            <a:r>
              <a:rPr lang="en-IN" sz="1200" dirty="0"/>
              <a:t>Input: 32 × 32 delay-Doppler grid with two channels.</a:t>
            </a:r>
          </a:p>
          <a:p>
            <a:r>
              <a:rPr lang="en-IN" sz="1200" dirty="0"/>
              <a:t>Output: Channel estimation and Doppler prediction.</a:t>
            </a:r>
          </a:p>
          <a:p>
            <a:r>
              <a:rPr lang="en-IN" sz="1200" dirty="0"/>
              <a:t>Training: Joint optimization using suitable channel estimation and Doppler prediction losses.</a:t>
            </a:r>
          </a:p>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IMPLEMENTATION</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Project Workflow</a:t>
            </a: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48640" y="1600200"/>
            <a:ext cx="3429000" cy="1691640"/>
          </a:xfrm>
          <a:prstGeom prst="rect">
            <a:avLst/>
          </a:prstGeom>
          <a:solidFill>
            <a:srgbClr val="F3F4F6"/>
          </a:solidFill>
          <a:ln w="9525">
            <a:solidFill>
              <a:srgbClr val="C9CED6"/>
            </a:solidFill>
            <a:prstDash val="solid"/>
          </a:ln>
        </p:spPr>
      </p:sp>
      <p:sp>
        <p:nvSpPr>
          <p:cNvPr id="9" name="Shape 7"/>
          <p:cNvSpPr/>
          <p:nvPr/>
        </p:nvSpPr>
        <p:spPr>
          <a:xfrm>
            <a:off x="548640" y="1600200"/>
            <a:ext cx="3429000" cy="457200"/>
          </a:xfrm>
          <a:prstGeom prst="rect">
            <a:avLst/>
          </a:prstGeom>
          <a:solidFill>
            <a:srgbClr val="14213D"/>
          </a:solidFill>
          <a:ln/>
        </p:spPr>
      </p:sp>
      <p:sp>
        <p:nvSpPr>
          <p:cNvPr id="10" name="Text 8"/>
          <p:cNvSpPr txBox="1"/>
          <p:nvPr/>
        </p:nvSpPr>
        <p:spPr>
          <a:xfrm>
            <a:off x="777240" y="16002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1</a:t>
            </a:r>
            <a:endParaRPr lang="en-US" sz="1100" dirty="0"/>
          </a:p>
        </p:txBody>
      </p:sp>
      <p:sp>
        <p:nvSpPr>
          <p:cNvPr id="11" name="Text 9"/>
          <p:cNvSpPr txBox="1"/>
          <p:nvPr/>
        </p:nvSpPr>
        <p:spPr>
          <a:xfrm>
            <a:off x="777240" y="2194560"/>
            <a:ext cx="2971800" cy="960120"/>
          </a:xfrm>
          <a:prstGeom prst="rect">
            <a:avLst/>
          </a:prstGeom>
          <a:noFill/>
          <a:ln/>
        </p:spPr>
        <p:txBody>
          <a:bodyPr wrap="square" lIns="0" tIns="0" rIns="0" bIns="0" rtlCol="0" anchor="ctr"/>
          <a:lstStyle/>
          <a:p>
            <a:r>
              <a:rPr lang="en-IN" sz="1400" dirty="0"/>
              <a:t>Generate synthetic OTFS channel samples with multipath and Doppler effects.</a:t>
            </a:r>
            <a:endParaRPr lang="en-US" sz="1300" dirty="0"/>
          </a:p>
        </p:txBody>
      </p:sp>
      <p:sp>
        <p:nvSpPr>
          <p:cNvPr id="12" name="Shape 10"/>
          <p:cNvSpPr/>
          <p:nvPr/>
        </p:nvSpPr>
        <p:spPr>
          <a:xfrm>
            <a:off x="4050792" y="2336292"/>
            <a:ext cx="310896" cy="219456"/>
          </a:xfrm>
          <a:prstGeom prst="rightArrow">
            <a:avLst/>
          </a:prstGeom>
          <a:solidFill>
            <a:srgbClr val="B08D57"/>
          </a:solidFill>
          <a:ln/>
        </p:spPr>
      </p:sp>
      <p:sp>
        <p:nvSpPr>
          <p:cNvPr id="13" name="Shape 11"/>
          <p:cNvSpPr/>
          <p:nvPr/>
        </p:nvSpPr>
        <p:spPr>
          <a:xfrm>
            <a:off x="4434840" y="1600200"/>
            <a:ext cx="3429000" cy="1691640"/>
          </a:xfrm>
          <a:prstGeom prst="rect">
            <a:avLst/>
          </a:prstGeom>
          <a:solidFill>
            <a:srgbClr val="F3F4F6"/>
          </a:solidFill>
          <a:ln w="9525">
            <a:solidFill>
              <a:srgbClr val="C9CED6"/>
            </a:solidFill>
            <a:prstDash val="solid"/>
          </a:ln>
        </p:spPr>
      </p:sp>
      <p:sp>
        <p:nvSpPr>
          <p:cNvPr id="14" name="Shape 12"/>
          <p:cNvSpPr/>
          <p:nvPr/>
        </p:nvSpPr>
        <p:spPr>
          <a:xfrm>
            <a:off x="4434840" y="1600200"/>
            <a:ext cx="3429000" cy="457200"/>
          </a:xfrm>
          <a:prstGeom prst="rect">
            <a:avLst/>
          </a:prstGeom>
          <a:solidFill>
            <a:srgbClr val="14213D"/>
          </a:solidFill>
          <a:ln/>
        </p:spPr>
      </p:sp>
      <p:sp>
        <p:nvSpPr>
          <p:cNvPr id="15" name="Text 13"/>
          <p:cNvSpPr txBox="1"/>
          <p:nvPr/>
        </p:nvSpPr>
        <p:spPr>
          <a:xfrm>
            <a:off x="4663440" y="16002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2</a:t>
            </a:r>
            <a:endParaRPr lang="en-US" sz="1100" dirty="0"/>
          </a:p>
        </p:txBody>
      </p:sp>
      <p:sp>
        <p:nvSpPr>
          <p:cNvPr id="16" name="Text 14"/>
          <p:cNvSpPr txBox="1"/>
          <p:nvPr/>
        </p:nvSpPr>
        <p:spPr>
          <a:xfrm>
            <a:off x="4663440" y="2194560"/>
            <a:ext cx="2971800" cy="960120"/>
          </a:xfrm>
          <a:prstGeom prst="rect">
            <a:avLst/>
          </a:prstGeom>
          <a:noFill/>
          <a:ln/>
        </p:spPr>
        <p:txBody>
          <a:bodyPr wrap="square" lIns="0" tIns="0" rIns="0" bIns="0" rtlCol="0" anchor="ctr"/>
          <a:lstStyle/>
          <a:p>
            <a:r>
              <a:rPr lang="en-IN" sz="1400" dirty="0"/>
              <a:t>Add noise and prepare the received delay-Doppler input data.</a:t>
            </a:r>
            <a:endParaRPr lang="en-US" sz="1300" dirty="0"/>
          </a:p>
        </p:txBody>
      </p:sp>
      <p:sp>
        <p:nvSpPr>
          <p:cNvPr id="17" name="Shape 15"/>
          <p:cNvSpPr/>
          <p:nvPr/>
        </p:nvSpPr>
        <p:spPr>
          <a:xfrm>
            <a:off x="7936992" y="2336292"/>
            <a:ext cx="310896" cy="219456"/>
          </a:xfrm>
          <a:prstGeom prst="rightArrow">
            <a:avLst/>
          </a:prstGeom>
          <a:solidFill>
            <a:srgbClr val="B08D57"/>
          </a:solidFill>
          <a:ln/>
        </p:spPr>
      </p:sp>
      <p:sp>
        <p:nvSpPr>
          <p:cNvPr id="18" name="Shape 16"/>
          <p:cNvSpPr/>
          <p:nvPr/>
        </p:nvSpPr>
        <p:spPr>
          <a:xfrm>
            <a:off x="8321040" y="1600200"/>
            <a:ext cx="3429000" cy="1691640"/>
          </a:xfrm>
          <a:prstGeom prst="rect">
            <a:avLst/>
          </a:prstGeom>
          <a:solidFill>
            <a:srgbClr val="F3F4F6"/>
          </a:solidFill>
          <a:ln w="9525">
            <a:solidFill>
              <a:srgbClr val="C9CED6"/>
            </a:solidFill>
            <a:prstDash val="solid"/>
          </a:ln>
        </p:spPr>
      </p:sp>
      <p:sp>
        <p:nvSpPr>
          <p:cNvPr id="19" name="Shape 17"/>
          <p:cNvSpPr/>
          <p:nvPr/>
        </p:nvSpPr>
        <p:spPr>
          <a:xfrm>
            <a:off x="8321040" y="1600200"/>
            <a:ext cx="3429000" cy="457200"/>
          </a:xfrm>
          <a:prstGeom prst="rect">
            <a:avLst/>
          </a:prstGeom>
          <a:solidFill>
            <a:srgbClr val="14213D"/>
          </a:solidFill>
          <a:ln/>
        </p:spPr>
      </p:sp>
      <p:sp>
        <p:nvSpPr>
          <p:cNvPr id="20" name="Text 18"/>
          <p:cNvSpPr txBox="1"/>
          <p:nvPr/>
        </p:nvSpPr>
        <p:spPr>
          <a:xfrm>
            <a:off x="8549640" y="16002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3</a:t>
            </a:r>
            <a:endParaRPr lang="en-US" sz="1100" dirty="0"/>
          </a:p>
        </p:txBody>
      </p:sp>
      <p:sp>
        <p:nvSpPr>
          <p:cNvPr id="21" name="Text 19"/>
          <p:cNvSpPr txBox="1"/>
          <p:nvPr/>
        </p:nvSpPr>
        <p:spPr>
          <a:xfrm>
            <a:off x="8549640" y="2194560"/>
            <a:ext cx="2971800" cy="960120"/>
          </a:xfrm>
          <a:prstGeom prst="rect">
            <a:avLst/>
          </a:prstGeom>
          <a:noFill/>
          <a:ln/>
        </p:spPr>
        <p:txBody>
          <a:bodyPr wrap="square" lIns="0" tIns="0" rIns="0" bIns="0" rtlCol="0" anchor="ctr"/>
          <a:lstStyle/>
          <a:p>
            <a:r>
              <a:rPr lang="en-IN" sz="1400" dirty="0"/>
              <a:t>Extract local features using CNN layers.</a:t>
            </a:r>
            <a:endParaRPr lang="en-US" sz="1300" dirty="0"/>
          </a:p>
        </p:txBody>
      </p:sp>
      <p:sp>
        <p:nvSpPr>
          <p:cNvPr id="22" name="Shape 20"/>
          <p:cNvSpPr/>
          <p:nvPr/>
        </p:nvSpPr>
        <p:spPr>
          <a:xfrm>
            <a:off x="548640" y="3657600"/>
            <a:ext cx="3429000" cy="1691640"/>
          </a:xfrm>
          <a:prstGeom prst="rect">
            <a:avLst/>
          </a:prstGeom>
          <a:solidFill>
            <a:srgbClr val="F3F4F6"/>
          </a:solidFill>
          <a:ln w="9525">
            <a:solidFill>
              <a:srgbClr val="C9CED6"/>
            </a:solidFill>
            <a:prstDash val="solid"/>
          </a:ln>
        </p:spPr>
      </p:sp>
      <p:sp>
        <p:nvSpPr>
          <p:cNvPr id="23" name="Shape 21"/>
          <p:cNvSpPr/>
          <p:nvPr/>
        </p:nvSpPr>
        <p:spPr>
          <a:xfrm>
            <a:off x="548640" y="3657600"/>
            <a:ext cx="3429000" cy="457200"/>
          </a:xfrm>
          <a:prstGeom prst="rect">
            <a:avLst/>
          </a:prstGeom>
          <a:solidFill>
            <a:srgbClr val="14213D"/>
          </a:solidFill>
          <a:ln/>
        </p:spPr>
      </p:sp>
      <p:sp>
        <p:nvSpPr>
          <p:cNvPr id="24" name="Text 22"/>
          <p:cNvSpPr txBox="1"/>
          <p:nvPr/>
        </p:nvSpPr>
        <p:spPr>
          <a:xfrm>
            <a:off x="777240" y="36576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4</a:t>
            </a:r>
            <a:endParaRPr lang="en-US" sz="1100" dirty="0"/>
          </a:p>
        </p:txBody>
      </p:sp>
      <p:sp>
        <p:nvSpPr>
          <p:cNvPr id="25" name="Text 23"/>
          <p:cNvSpPr txBox="1"/>
          <p:nvPr/>
        </p:nvSpPr>
        <p:spPr>
          <a:xfrm>
            <a:off x="777240" y="4251960"/>
            <a:ext cx="2971800" cy="960120"/>
          </a:xfrm>
          <a:prstGeom prst="rect">
            <a:avLst/>
          </a:prstGeom>
          <a:noFill/>
          <a:ln/>
        </p:spPr>
        <p:txBody>
          <a:bodyPr wrap="square" lIns="0" tIns="0" rIns="0" bIns="0" rtlCol="0" anchor="ctr"/>
          <a:lstStyle/>
          <a:p>
            <a:r>
              <a:rPr lang="en-IN" sz="1400" dirty="0"/>
              <a:t>Reshape CNN features into tokens for Transformer processing.</a:t>
            </a:r>
            <a:endParaRPr lang="en-US" sz="1300" dirty="0"/>
          </a:p>
        </p:txBody>
      </p:sp>
      <p:sp>
        <p:nvSpPr>
          <p:cNvPr id="26" name="Shape 24"/>
          <p:cNvSpPr/>
          <p:nvPr/>
        </p:nvSpPr>
        <p:spPr>
          <a:xfrm>
            <a:off x="4050792" y="4393692"/>
            <a:ext cx="310896" cy="219456"/>
          </a:xfrm>
          <a:prstGeom prst="rightArrow">
            <a:avLst/>
          </a:prstGeom>
          <a:solidFill>
            <a:srgbClr val="B08D57"/>
          </a:solidFill>
          <a:ln/>
        </p:spPr>
      </p:sp>
      <p:sp>
        <p:nvSpPr>
          <p:cNvPr id="27" name="Shape 25"/>
          <p:cNvSpPr/>
          <p:nvPr/>
        </p:nvSpPr>
        <p:spPr>
          <a:xfrm>
            <a:off x="4434840" y="3657600"/>
            <a:ext cx="3429000" cy="1691640"/>
          </a:xfrm>
          <a:prstGeom prst="rect">
            <a:avLst/>
          </a:prstGeom>
          <a:solidFill>
            <a:srgbClr val="F3F4F6"/>
          </a:solidFill>
          <a:ln w="9525">
            <a:solidFill>
              <a:srgbClr val="C9CED6"/>
            </a:solidFill>
            <a:prstDash val="solid"/>
          </a:ln>
        </p:spPr>
      </p:sp>
      <p:sp>
        <p:nvSpPr>
          <p:cNvPr id="28" name="Shape 26"/>
          <p:cNvSpPr/>
          <p:nvPr/>
        </p:nvSpPr>
        <p:spPr>
          <a:xfrm>
            <a:off x="4434840" y="3657600"/>
            <a:ext cx="3429000" cy="457200"/>
          </a:xfrm>
          <a:prstGeom prst="rect">
            <a:avLst/>
          </a:prstGeom>
          <a:solidFill>
            <a:srgbClr val="14213D"/>
          </a:solidFill>
          <a:ln/>
        </p:spPr>
      </p:sp>
      <p:sp>
        <p:nvSpPr>
          <p:cNvPr id="29" name="Text 27"/>
          <p:cNvSpPr txBox="1"/>
          <p:nvPr/>
        </p:nvSpPr>
        <p:spPr>
          <a:xfrm>
            <a:off x="4663440" y="36576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5</a:t>
            </a:r>
            <a:endParaRPr lang="en-US" sz="1100" dirty="0"/>
          </a:p>
        </p:txBody>
      </p:sp>
      <p:sp>
        <p:nvSpPr>
          <p:cNvPr id="30" name="Text 28"/>
          <p:cNvSpPr txBox="1"/>
          <p:nvPr/>
        </p:nvSpPr>
        <p:spPr>
          <a:xfrm>
            <a:off x="4663440" y="4251960"/>
            <a:ext cx="2971800" cy="960120"/>
          </a:xfrm>
          <a:prstGeom prst="rect">
            <a:avLst/>
          </a:prstGeom>
          <a:noFill/>
          <a:ln/>
        </p:spPr>
        <p:txBody>
          <a:bodyPr wrap="square" lIns="0" tIns="0" rIns="0" bIns="0" rtlCol="0" anchor="ctr"/>
          <a:lstStyle/>
          <a:p>
            <a:r>
              <a:rPr lang="en-IN" sz="1400" dirty="0"/>
              <a:t>Develop and train the joint channel estimation and Doppler prediction model.</a:t>
            </a:r>
            <a:endParaRPr lang="en-US" sz="1300" dirty="0"/>
          </a:p>
        </p:txBody>
      </p:sp>
      <p:sp>
        <p:nvSpPr>
          <p:cNvPr id="31" name="Shape 29"/>
          <p:cNvSpPr/>
          <p:nvPr/>
        </p:nvSpPr>
        <p:spPr>
          <a:xfrm>
            <a:off x="7936992" y="4393692"/>
            <a:ext cx="310896" cy="219456"/>
          </a:xfrm>
          <a:prstGeom prst="rightArrow">
            <a:avLst/>
          </a:prstGeom>
          <a:solidFill>
            <a:srgbClr val="B08D57"/>
          </a:solidFill>
          <a:ln/>
        </p:spPr>
      </p:sp>
      <p:sp>
        <p:nvSpPr>
          <p:cNvPr id="32" name="Shape 30"/>
          <p:cNvSpPr/>
          <p:nvPr/>
        </p:nvSpPr>
        <p:spPr>
          <a:xfrm>
            <a:off x="8321040" y="3657600"/>
            <a:ext cx="3429000" cy="1691640"/>
          </a:xfrm>
          <a:prstGeom prst="rect">
            <a:avLst/>
          </a:prstGeom>
          <a:solidFill>
            <a:srgbClr val="F3F4F6"/>
          </a:solidFill>
          <a:ln w="9525">
            <a:solidFill>
              <a:srgbClr val="C9CED6"/>
            </a:solidFill>
            <a:prstDash val="solid"/>
          </a:ln>
        </p:spPr>
      </p:sp>
      <p:sp>
        <p:nvSpPr>
          <p:cNvPr id="33" name="Shape 31"/>
          <p:cNvSpPr/>
          <p:nvPr/>
        </p:nvSpPr>
        <p:spPr>
          <a:xfrm>
            <a:off x="8321040" y="3657600"/>
            <a:ext cx="3429000" cy="457200"/>
          </a:xfrm>
          <a:prstGeom prst="rect">
            <a:avLst/>
          </a:prstGeom>
          <a:solidFill>
            <a:srgbClr val="14213D"/>
          </a:solidFill>
          <a:ln/>
        </p:spPr>
      </p:sp>
      <p:sp>
        <p:nvSpPr>
          <p:cNvPr id="34" name="Text 32"/>
          <p:cNvSpPr txBox="1"/>
          <p:nvPr/>
        </p:nvSpPr>
        <p:spPr>
          <a:xfrm>
            <a:off x="8549640" y="3657600"/>
            <a:ext cx="1828800" cy="457200"/>
          </a:xfrm>
          <a:prstGeom prst="rect">
            <a:avLst/>
          </a:prstGeom>
          <a:noFill/>
          <a:ln/>
        </p:spPr>
        <p:txBody>
          <a:bodyPr wrap="square" lIns="0" tIns="0" rIns="0" bIns="0" rtlCol="0" anchor="ctr"/>
          <a:lstStyle/>
          <a:p>
            <a:pPr marL="0" indent="0">
              <a:buNone/>
            </a:pPr>
            <a:r>
              <a:rPr lang="en-US" sz="1100" b="1" kern="0" spc="200" dirty="0">
                <a:solidFill>
                  <a:srgbClr val="B08D57"/>
                </a:solidFill>
                <a:latin typeface="Calibri" pitchFamily="34" charset="0"/>
                <a:ea typeface="Calibri" pitchFamily="34" charset="-122"/>
                <a:cs typeface="Calibri" pitchFamily="34" charset="-120"/>
              </a:rPr>
              <a:t>STEP 6</a:t>
            </a:r>
            <a:endParaRPr lang="en-US" sz="1100" dirty="0"/>
          </a:p>
        </p:txBody>
      </p:sp>
      <p:sp>
        <p:nvSpPr>
          <p:cNvPr id="35" name="Text 33"/>
          <p:cNvSpPr txBox="1"/>
          <p:nvPr/>
        </p:nvSpPr>
        <p:spPr>
          <a:xfrm>
            <a:off x="8549640" y="4251960"/>
            <a:ext cx="2971800" cy="960120"/>
          </a:xfrm>
          <a:prstGeom prst="rect">
            <a:avLst/>
          </a:prstGeom>
          <a:noFill/>
          <a:ln/>
        </p:spPr>
        <p:txBody>
          <a:bodyPr wrap="square" lIns="0" tIns="0" rIns="0" bIns="0" rtlCol="0" anchor="ctr"/>
          <a:lstStyle/>
          <a:p>
            <a:r>
              <a:rPr lang="en-IN" sz="1400" dirty="0"/>
              <a:t>Evaluate model predictions using estimation and prediction metrics.</a:t>
            </a:r>
            <a:endParaRPr lang="en-US" sz="1300" dirty="0"/>
          </a:p>
        </p:txBody>
      </p:sp>
      <p:sp>
        <p:nvSpPr>
          <p:cNvPr id="36" name="Text 34"/>
          <p:cNvSpPr txBox="1"/>
          <p:nvPr/>
        </p:nvSpPr>
        <p:spPr>
          <a:xfrm>
            <a:off x="548640" y="5715000"/>
            <a:ext cx="11091672" cy="365760"/>
          </a:xfrm>
          <a:prstGeom prst="rect">
            <a:avLst/>
          </a:prstGeom>
          <a:noFill/>
          <a:ln/>
        </p:spPr>
        <p:txBody>
          <a:bodyPr wrap="square" lIns="0" tIns="0" rIns="0" bIns="0" rtlCol="0" anchor="t"/>
          <a:lstStyle/>
          <a:p>
            <a:r>
              <a:rPr lang="en-US" sz="1200" dirty="0">
                <a:solidFill>
                  <a:srgbClr val="2B2F3A"/>
                </a:solidFill>
                <a:latin typeface="Calibri" pitchFamily="34" charset="0"/>
                <a:ea typeface="Calibri" pitchFamily="34" charset="-122"/>
                <a:cs typeface="Calibri" pitchFamily="34" charset="-120"/>
              </a:rPr>
              <a:t>Tools</a:t>
            </a:r>
            <a:r>
              <a:rPr lang="en-IN" sz="1200" dirty="0"/>
              <a:t>Python, Google </a:t>
            </a:r>
            <a:r>
              <a:rPr lang="en-IN" sz="1200" dirty="0" err="1"/>
              <a:t>Colab</a:t>
            </a:r>
            <a:r>
              <a:rPr lang="en-IN" sz="1200" dirty="0"/>
              <a:t>, TensorFlow/</a:t>
            </a:r>
            <a:r>
              <a:rPr lang="en-IN" sz="1200" dirty="0" err="1"/>
              <a:t>Keras</a:t>
            </a:r>
            <a:r>
              <a:rPr lang="en-IN" sz="1200" dirty="0"/>
              <a:t>, NumPy, Matplotlib, and Scikit-learn.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SIMULATION SETUP</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Experimental Setup and Evaluation Plan</a:t>
            </a: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7</a:t>
            </a:r>
            <a:endParaRPr lang="en-US" sz="900" dirty="0"/>
          </a:p>
        </p:txBody>
      </p:sp>
      <p:sp>
        <p:nvSpPr>
          <p:cNvPr id="8" name="Text 6"/>
          <p:cNvSpPr txBox="1"/>
          <p:nvPr/>
        </p:nvSpPr>
        <p:spPr>
          <a:xfrm>
            <a:off x="548640" y="1371600"/>
            <a:ext cx="6400800" cy="32004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Simulation parameters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3170750822"/>
              </p:ext>
            </p:extLst>
          </p:nvPr>
        </p:nvGraphicFramePr>
        <p:xfrm>
          <a:off x="548640" y="1737360"/>
          <a:ext cx="6675120" cy="4142232"/>
        </p:xfrm>
        <a:graphic>
          <a:graphicData uri="http://schemas.openxmlformats.org/drawingml/2006/table">
            <a:tbl>
              <a:tblPr/>
              <a:tblGrid>
                <a:gridCol w="17373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Specification</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621792">
                <a:tc>
                  <a:txBody>
                    <a:bodyPr/>
                    <a:lstStyle/>
                    <a:p>
                      <a:pPr marL="0" indent="0">
                        <a:buNone/>
                      </a:pPr>
                      <a:r>
                        <a:rPr lang="en-US" sz="1200" b="1" dirty="0">
                          <a:solidFill>
                            <a:srgbClr val="2B2F3A"/>
                          </a:solidFill>
                          <a:latin typeface="Calibri" pitchFamily="34" charset="0"/>
                          <a:ea typeface="Calibri" pitchFamily="34" charset="-122"/>
                          <a:cs typeface="Calibri" pitchFamily="34" charset="-120"/>
                        </a:rPr>
                        <a:t>Modulation</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200" dirty="0"/>
                        <a:t>OTFS-like delay-Doppler representation</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extLst>
                  <a:ext uri="{0D108BD9-81ED-4DB2-BD59-A6C34878D82A}">
                    <a16:rowId xmlns:a16="http://schemas.microsoft.com/office/drawing/2014/main" val="10001"/>
                  </a:ext>
                </a:extLst>
              </a:tr>
              <a:tr h="621792">
                <a:tc>
                  <a:txBody>
                    <a:bodyPr/>
                    <a:lstStyle/>
                    <a:p>
                      <a:pPr marL="0" indent="0">
                        <a:buNone/>
                      </a:pPr>
                      <a:r>
                        <a:rPr lang="en-IN" sz="1200" dirty="0"/>
                        <a:t>Input Channels</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200" dirty="0"/>
                        <a:t>Two channels representing signal components</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1200" b="1" dirty="0">
                          <a:solidFill>
                            <a:srgbClr val="2B2F3A"/>
                          </a:solidFill>
                          <a:latin typeface="Calibri" pitchFamily="34" charset="0"/>
                          <a:ea typeface="Calibri" pitchFamily="34" charset="-122"/>
                          <a:cs typeface="Calibri" pitchFamily="34" charset="-120"/>
                        </a:rPr>
                        <a:t>Channel model</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200" dirty="0"/>
                        <a:t>Synthetic multipath channel</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extLst>
                  <a:ext uri="{0D108BD9-81ED-4DB2-BD59-A6C34878D82A}">
                    <a16:rowId xmlns:a16="http://schemas.microsoft.com/office/drawing/2014/main" val="10003"/>
                  </a:ext>
                </a:extLst>
              </a:tr>
              <a:tr h="621792">
                <a:tc>
                  <a:txBody>
                    <a:bodyPr/>
                    <a:lstStyle/>
                    <a:p>
                      <a:pPr marL="0" indent="0">
                        <a:buNone/>
                      </a:pPr>
                      <a:r>
                        <a:rPr lang="en-IN" sz="1200" dirty="0"/>
                        <a:t>Noise</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200" dirty="0"/>
                        <a:t>Additive White Gaussian Noise (AWGN)</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buNone/>
                      </a:pPr>
                      <a:r>
                        <a:rPr lang="en-IN" sz="1200" dirty="0"/>
                        <a:t>Dataset</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200" dirty="0"/>
                        <a:t>5,800 synthetic samples</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extLst>
                  <a:ext uri="{0D108BD9-81ED-4DB2-BD59-A6C34878D82A}">
                    <a16:rowId xmlns:a16="http://schemas.microsoft.com/office/drawing/2014/main" val="10005"/>
                  </a:ext>
                </a:extLst>
              </a:tr>
              <a:tr h="621792">
                <a:tc>
                  <a:txBody>
                    <a:bodyPr/>
                    <a:lstStyle/>
                    <a:p>
                      <a:pPr marL="0" indent="0">
                        <a:buNone/>
                      </a:pPr>
                      <a:r>
                        <a:rPr lang="en-US" sz="1200" b="1" dirty="0">
                          <a:solidFill>
                            <a:srgbClr val="2B2F3A"/>
                          </a:solidFill>
                          <a:latin typeface="Calibri" pitchFamily="34" charset="0"/>
                          <a:ea typeface="Calibri" pitchFamily="34" charset="-122"/>
                          <a:cs typeface="Calibri" pitchFamily="34" charset="-120"/>
                        </a:rPr>
                        <a:t>Data split</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200" dirty="0"/>
                        <a:t>4000 training, 800 validation, 1000 testing</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0" name="Text 7"/>
          <p:cNvSpPr txBox="1"/>
          <p:nvPr/>
        </p:nvSpPr>
        <p:spPr>
          <a:xfrm>
            <a:off x="7772400" y="1371600"/>
            <a:ext cx="3840480" cy="320040"/>
          </a:xfrm>
          <a:prstGeom prst="rect">
            <a:avLst/>
          </a:prstGeom>
          <a:noFill/>
          <a:ln/>
        </p:spPr>
        <p:txBody>
          <a:bodyPr wrap="square" lIns="0" tIns="0" rIns="0" bIns="0" rtlCol="0" anchor="ctr"/>
          <a:lstStyle/>
          <a:p>
            <a:pPr marL="0" indent="0">
              <a:buNone/>
            </a:pPr>
            <a:r>
              <a:rPr lang="en-US" sz="1200" b="1" dirty="0">
                <a:solidFill>
                  <a:srgbClr val="14213D"/>
                </a:solidFill>
                <a:latin typeface="Calibri" pitchFamily="34" charset="0"/>
                <a:ea typeface="Calibri" pitchFamily="34" charset="-122"/>
                <a:cs typeface="Calibri" pitchFamily="34" charset="-120"/>
              </a:rPr>
              <a:t>Evaluation plan</a:t>
            </a:r>
            <a:endParaRPr lang="en-US" sz="1200" dirty="0"/>
          </a:p>
        </p:txBody>
      </p:sp>
      <p:sp>
        <p:nvSpPr>
          <p:cNvPr id="11" name="Shape 8"/>
          <p:cNvSpPr/>
          <p:nvPr/>
        </p:nvSpPr>
        <p:spPr>
          <a:xfrm>
            <a:off x="7772400" y="1737360"/>
            <a:ext cx="3867912" cy="4114800"/>
          </a:xfrm>
          <a:prstGeom prst="rect">
            <a:avLst/>
          </a:prstGeom>
          <a:solidFill>
            <a:srgbClr val="F3F4F6"/>
          </a:solidFill>
          <a:ln w="9525">
            <a:solidFill>
              <a:srgbClr val="C9CED6"/>
            </a:solidFill>
            <a:prstDash val="solid"/>
          </a:ln>
        </p:spPr>
      </p:sp>
      <p:sp>
        <p:nvSpPr>
          <p:cNvPr id="12" name="Text 9"/>
          <p:cNvSpPr txBox="1"/>
          <p:nvPr/>
        </p:nvSpPr>
        <p:spPr>
          <a:xfrm>
            <a:off x="7955280" y="1920240"/>
            <a:ext cx="411480" cy="548640"/>
          </a:xfrm>
          <a:prstGeom prst="rect">
            <a:avLst/>
          </a:prstGeom>
          <a:noFill/>
          <a:ln/>
        </p:spPr>
        <p:txBody>
          <a:bodyPr wrap="square" lIns="0" tIns="0" rIns="0" bIns="0"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1</a:t>
            </a:r>
            <a:endParaRPr lang="en-US" sz="2000" dirty="0"/>
          </a:p>
        </p:txBody>
      </p:sp>
      <p:sp>
        <p:nvSpPr>
          <p:cNvPr id="13" name="Text 10"/>
          <p:cNvSpPr txBox="1"/>
          <p:nvPr/>
        </p:nvSpPr>
        <p:spPr>
          <a:xfrm>
            <a:off x="8412480" y="1920240"/>
            <a:ext cx="3063240" cy="548640"/>
          </a:xfrm>
          <a:prstGeom prst="rect">
            <a:avLst/>
          </a:prstGeom>
          <a:noFill/>
          <a:ln/>
        </p:spPr>
        <p:txBody>
          <a:bodyPr wrap="square" lIns="0" tIns="0" rIns="0" bIns="0" rtlCol="0" anchor="ctr"/>
          <a:lstStyle/>
          <a:p>
            <a:r>
              <a:rPr lang="en-IN" sz="1200" dirty="0"/>
              <a:t>Mean Squared Error (MSE) for channel estimation.</a:t>
            </a:r>
            <a:endParaRPr lang="en-US" sz="1200" dirty="0"/>
          </a:p>
        </p:txBody>
      </p:sp>
      <p:sp>
        <p:nvSpPr>
          <p:cNvPr id="14" name="Text 11"/>
          <p:cNvSpPr txBox="1"/>
          <p:nvPr/>
        </p:nvSpPr>
        <p:spPr>
          <a:xfrm>
            <a:off x="7955280" y="2688336"/>
            <a:ext cx="411480" cy="548640"/>
          </a:xfrm>
          <a:prstGeom prst="rect">
            <a:avLst/>
          </a:prstGeom>
          <a:noFill/>
          <a:ln/>
        </p:spPr>
        <p:txBody>
          <a:bodyPr wrap="square" lIns="0" tIns="0" rIns="0" bIns="0"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2</a:t>
            </a:r>
            <a:endParaRPr lang="en-US" sz="2000" dirty="0"/>
          </a:p>
        </p:txBody>
      </p:sp>
      <p:sp>
        <p:nvSpPr>
          <p:cNvPr id="15" name="Text 12"/>
          <p:cNvSpPr txBox="1"/>
          <p:nvPr/>
        </p:nvSpPr>
        <p:spPr>
          <a:xfrm>
            <a:off x="8412480" y="2688336"/>
            <a:ext cx="3063240" cy="548640"/>
          </a:xfrm>
          <a:prstGeom prst="rect">
            <a:avLst/>
          </a:prstGeom>
          <a:noFill/>
          <a:ln/>
        </p:spPr>
        <p:txBody>
          <a:bodyPr wrap="square" lIns="0" tIns="0" rIns="0" bIns="0" rtlCol="0" anchor="ctr"/>
          <a:lstStyle/>
          <a:p>
            <a:r>
              <a:rPr lang="en-IN" sz="1200" dirty="0"/>
              <a:t>Normalized Mean Squared Error (NMSE) for channel estimation.</a:t>
            </a:r>
            <a:endParaRPr lang="en-US" sz="1200" dirty="0"/>
          </a:p>
        </p:txBody>
      </p:sp>
      <p:sp>
        <p:nvSpPr>
          <p:cNvPr id="16" name="Text 13"/>
          <p:cNvSpPr txBox="1"/>
          <p:nvPr/>
        </p:nvSpPr>
        <p:spPr>
          <a:xfrm>
            <a:off x="7955280" y="3456432"/>
            <a:ext cx="411480" cy="548640"/>
          </a:xfrm>
          <a:prstGeom prst="rect">
            <a:avLst/>
          </a:prstGeom>
          <a:noFill/>
          <a:ln/>
        </p:spPr>
        <p:txBody>
          <a:bodyPr wrap="square" lIns="0" tIns="0" rIns="0" bIns="0"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3</a:t>
            </a:r>
            <a:endParaRPr lang="en-US" sz="2000" dirty="0"/>
          </a:p>
        </p:txBody>
      </p:sp>
      <p:sp>
        <p:nvSpPr>
          <p:cNvPr id="17" name="Text 14"/>
          <p:cNvSpPr txBox="1"/>
          <p:nvPr/>
        </p:nvSpPr>
        <p:spPr>
          <a:xfrm>
            <a:off x="8412480" y="3456432"/>
            <a:ext cx="3063240" cy="548640"/>
          </a:xfrm>
          <a:prstGeom prst="rect">
            <a:avLst/>
          </a:prstGeom>
          <a:noFill/>
          <a:ln/>
        </p:spPr>
        <p:txBody>
          <a:bodyPr wrap="square" lIns="0" tIns="0" rIns="0" bIns="0" rtlCol="0" anchor="ctr"/>
          <a:lstStyle/>
          <a:p>
            <a:r>
              <a:rPr lang="en-IN" sz="1200" dirty="0"/>
              <a:t>Mean Absolute Error (MAE) for Doppler prediction.</a:t>
            </a:r>
            <a:endParaRPr lang="en-US" sz="1200" dirty="0"/>
          </a:p>
        </p:txBody>
      </p:sp>
      <p:sp>
        <p:nvSpPr>
          <p:cNvPr id="18" name="Text 15"/>
          <p:cNvSpPr txBox="1"/>
          <p:nvPr/>
        </p:nvSpPr>
        <p:spPr>
          <a:xfrm>
            <a:off x="7955280" y="4224528"/>
            <a:ext cx="411480" cy="548640"/>
          </a:xfrm>
          <a:prstGeom prst="rect">
            <a:avLst/>
          </a:prstGeom>
          <a:noFill/>
          <a:ln/>
        </p:spPr>
        <p:txBody>
          <a:bodyPr wrap="square" lIns="0" tIns="0" rIns="0" bIns="0"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4</a:t>
            </a:r>
            <a:endParaRPr lang="en-US" sz="2000" dirty="0"/>
          </a:p>
        </p:txBody>
      </p:sp>
      <p:sp>
        <p:nvSpPr>
          <p:cNvPr id="19" name="Text 16"/>
          <p:cNvSpPr txBox="1"/>
          <p:nvPr/>
        </p:nvSpPr>
        <p:spPr>
          <a:xfrm>
            <a:off x="8412480" y="4224528"/>
            <a:ext cx="3063240" cy="548640"/>
          </a:xfrm>
          <a:prstGeom prst="rect">
            <a:avLst/>
          </a:prstGeom>
          <a:noFill/>
          <a:ln/>
        </p:spPr>
        <p:txBody>
          <a:bodyPr wrap="square" lIns="0" tIns="0" rIns="0" bIns="0" rtlCol="0" anchor="ctr"/>
          <a:lstStyle/>
          <a:p>
            <a:r>
              <a:rPr lang="en-IN" sz="1200" dirty="0"/>
              <a:t>Root Mean Squared Error (RMSE) for Doppler prediction.</a:t>
            </a:r>
            <a:endParaRPr lang="en-US" sz="1200" dirty="0"/>
          </a:p>
        </p:txBody>
      </p:sp>
      <p:sp>
        <p:nvSpPr>
          <p:cNvPr id="20" name="Text 17"/>
          <p:cNvSpPr txBox="1"/>
          <p:nvPr/>
        </p:nvSpPr>
        <p:spPr>
          <a:xfrm>
            <a:off x="7955280" y="4992624"/>
            <a:ext cx="411480" cy="548640"/>
          </a:xfrm>
          <a:prstGeom prst="rect">
            <a:avLst/>
          </a:prstGeom>
          <a:noFill/>
          <a:ln/>
        </p:spPr>
        <p:txBody>
          <a:bodyPr wrap="square" lIns="0" tIns="0" rIns="0" bIns="0" rtlCol="0" anchor="ctr"/>
          <a:lstStyle/>
          <a:p>
            <a:pPr marL="0" indent="0">
              <a:buNone/>
            </a:pPr>
            <a:r>
              <a:rPr lang="en-US" sz="2000" b="1" dirty="0">
                <a:solidFill>
                  <a:srgbClr val="B08D57"/>
                </a:solidFill>
                <a:latin typeface="Georgia" pitchFamily="34" charset="0"/>
                <a:ea typeface="Georgia" pitchFamily="34" charset="-122"/>
                <a:cs typeface="Georgia" pitchFamily="34" charset="-120"/>
              </a:rPr>
              <a:t>5</a:t>
            </a:r>
            <a:endParaRPr lang="en-US" sz="2000" dirty="0"/>
          </a:p>
        </p:txBody>
      </p:sp>
      <p:sp>
        <p:nvSpPr>
          <p:cNvPr id="21" name="Text 18"/>
          <p:cNvSpPr txBox="1"/>
          <p:nvPr/>
        </p:nvSpPr>
        <p:spPr>
          <a:xfrm>
            <a:off x="8412480" y="4992624"/>
            <a:ext cx="3063240" cy="548640"/>
          </a:xfrm>
          <a:prstGeom prst="rect">
            <a:avLst/>
          </a:prstGeom>
          <a:noFill/>
          <a:ln/>
        </p:spPr>
        <p:txBody>
          <a:bodyPr wrap="square" lIns="0" tIns="0" rIns="0" bIns="0" rtlCol="0" anchor="ctr"/>
          <a:lstStyle/>
          <a:p>
            <a:r>
              <a:rPr lang="en-IN" sz="1200" dirty="0"/>
              <a:t>Performance comparison across different SNR levels.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14213D"/>
          </a:solidFill>
          <a:ln/>
        </p:spPr>
      </p:sp>
      <p:sp>
        <p:nvSpPr>
          <p:cNvPr id="3" name="Text 1"/>
          <p:cNvSpPr txBox="1"/>
          <p:nvPr/>
        </p:nvSpPr>
        <p:spPr>
          <a:xfrm>
            <a:off x="548640" y="155448"/>
            <a:ext cx="7315200" cy="256032"/>
          </a:xfrm>
          <a:prstGeom prst="rect">
            <a:avLst/>
          </a:prstGeom>
          <a:noFill/>
          <a:ln/>
        </p:spPr>
        <p:txBody>
          <a:bodyPr wrap="square" lIns="0" tIns="0" rIns="0" bIns="0" rtlCol="0" anchor="ctr"/>
          <a:lstStyle/>
          <a:p>
            <a:pPr marL="0" indent="0">
              <a:buNone/>
            </a:pPr>
            <a:r>
              <a:rPr lang="en-US" sz="1000" b="1" kern="0" spc="300" dirty="0">
                <a:solidFill>
                  <a:srgbClr val="B08D57"/>
                </a:solidFill>
                <a:latin typeface="Calibri" pitchFamily="34" charset="0"/>
                <a:ea typeface="Calibri" pitchFamily="34" charset="-122"/>
                <a:cs typeface="Calibri" pitchFamily="34" charset="-120"/>
              </a:rPr>
              <a:t>REMAINING WORK</a:t>
            </a:r>
            <a:endParaRPr lang="en-US" sz="1000" dirty="0"/>
          </a:p>
        </p:txBody>
      </p:sp>
      <p:sp>
        <p:nvSpPr>
          <p:cNvPr id="4" name="Text 2"/>
          <p:cNvSpPr txBox="1"/>
          <p:nvPr/>
        </p:nvSpPr>
        <p:spPr>
          <a:xfrm>
            <a:off x="548640" y="411480"/>
            <a:ext cx="11091672"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Roadmap to Project Completion</a:t>
            </a:r>
            <a:endParaRPr lang="en-US" sz="2600" dirty="0"/>
          </a:p>
        </p:txBody>
      </p:sp>
      <p:sp>
        <p:nvSpPr>
          <p:cNvPr id="5" name="Shape 3"/>
          <p:cNvSpPr/>
          <p:nvPr/>
        </p:nvSpPr>
        <p:spPr>
          <a:xfrm>
            <a:off x="548640" y="6355080"/>
            <a:ext cx="11091672" cy="0"/>
          </a:xfrm>
          <a:prstGeom prst="line">
            <a:avLst/>
          </a:prstGeom>
          <a:noFill/>
          <a:ln w="9525">
            <a:solidFill>
              <a:srgbClr val="C9CED6"/>
            </a:solidFill>
            <a:prstDash val="solid"/>
          </a:ln>
        </p:spPr>
      </p:sp>
      <p:sp>
        <p:nvSpPr>
          <p:cNvPr id="7" name="Text 5"/>
          <p:cNvSpPr txBox="1"/>
          <p:nvPr/>
        </p:nvSpPr>
        <p:spPr>
          <a:xfrm>
            <a:off x="11091672" y="6428232"/>
            <a:ext cx="548640" cy="256032"/>
          </a:xfrm>
          <a:prstGeom prst="rect">
            <a:avLst/>
          </a:prstGeom>
          <a:noFill/>
          <a:ln/>
        </p:spPr>
        <p:txBody>
          <a:bodyPr wrap="square" lIns="0" tIns="0" rIns="0" bIns="0" rtlCol="0" anchor="ctr"/>
          <a:lstStyle/>
          <a:p>
            <a:pPr marL="0" indent="0" algn="r">
              <a:buNone/>
            </a:pPr>
            <a:r>
              <a:rPr lang="en-US" sz="900" dirty="0">
                <a:solidFill>
                  <a:srgbClr val="5A6070"/>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3917833419"/>
              </p:ext>
            </p:extLst>
          </p:nvPr>
        </p:nvGraphicFramePr>
        <p:xfrm>
          <a:off x="548640" y="1600200"/>
          <a:ext cx="11091672" cy="4114800"/>
        </p:xfrm>
        <a:graphic>
          <a:graphicData uri="http://schemas.openxmlformats.org/drawingml/2006/table">
            <a:tbl>
              <a:tblPr/>
              <a:tblGrid>
                <a:gridCol w="8229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6428232">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914400">
                <a:tc>
                  <a:txBody>
                    <a:bodyPr/>
                    <a:lstStyle/>
                    <a:p>
                      <a:pPr marL="0" indent="0" algn="ctr">
                        <a:buNone/>
                      </a:pPr>
                      <a:r>
                        <a:rPr lang="en-US" sz="1200" b="1" dirty="0">
                          <a:solidFill>
                            <a:srgbClr val="2B2F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400" dirty="0"/>
                        <a:t>Complete Transformer Encoder</a:t>
                      </a:r>
                      <a:endParaRPr lang="en-US" sz="13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400" dirty="0"/>
                        <a:t>Implement attention and Transformer layers on CNN-generated tokens.</a:t>
                      </a:r>
                      <a:endParaRPr lang="en-US" sz="125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extLst>
                  <a:ext uri="{0D108BD9-81ED-4DB2-BD59-A6C34878D82A}">
                    <a16:rowId xmlns:a16="http://schemas.microsoft.com/office/drawing/2014/main" val="10001"/>
                  </a:ext>
                </a:extLst>
              </a:tr>
              <a:tr h="914400">
                <a:tc>
                  <a:txBody>
                    <a:bodyPr/>
                    <a:lstStyle/>
                    <a:p>
                      <a:pPr marL="0" indent="0" algn="ctr">
                        <a:buNone/>
                      </a:pPr>
                      <a:r>
                        <a:rPr lang="en-US" sz="1200" b="1" dirty="0">
                          <a:solidFill>
                            <a:srgbClr val="2B2F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400" dirty="0"/>
                        <a:t>Develop Multi-Task Output Heads</a:t>
                      </a:r>
                      <a:endParaRPr lang="en-US" sz="13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400" dirty="0"/>
                        <a:t>Create separate outputs for channel estimation and Doppler prediction.</a:t>
                      </a:r>
                      <a:endParaRPr lang="en-US" sz="125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ctr">
                        <a:buNone/>
                      </a:pPr>
                      <a:r>
                        <a:rPr lang="en-US" sz="1200" b="1" dirty="0">
                          <a:solidFill>
                            <a:srgbClr val="2B2F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400" dirty="0"/>
                        <a:t>Train and Evaluate Model</a:t>
                      </a:r>
                      <a:endParaRPr lang="en-US" sz="13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tc>
                  <a:txBody>
                    <a:bodyPr/>
                    <a:lstStyle/>
                    <a:p>
                      <a:pPr marL="0" indent="0">
                        <a:buNone/>
                      </a:pPr>
                      <a:r>
                        <a:rPr lang="en-IN" sz="1400" dirty="0"/>
                        <a:t>Train the model and calculate MSE, NMSE, MAE, and RMSE.</a:t>
                      </a:r>
                      <a:endParaRPr lang="en-US" sz="125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3F4F6"/>
                    </a:solidFill>
                  </a:tcPr>
                </a:tc>
                <a:extLst>
                  <a:ext uri="{0D108BD9-81ED-4DB2-BD59-A6C34878D82A}">
                    <a16:rowId xmlns:a16="http://schemas.microsoft.com/office/drawing/2014/main" val="10003"/>
                  </a:ext>
                </a:extLst>
              </a:tr>
              <a:tr h="914400">
                <a:tc>
                  <a:txBody>
                    <a:bodyPr/>
                    <a:lstStyle/>
                    <a:p>
                      <a:pPr marL="0" indent="0" algn="ctr">
                        <a:buNone/>
                      </a:pPr>
                      <a:r>
                        <a:rPr lang="en-US" sz="1200" b="1" dirty="0">
                          <a:solidFill>
                            <a:srgbClr val="2B2F3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US" sz="1300" b="1" dirty="0">
                          <a:solidFill>
                            <a:srgbClr val="14213D"/>
                          </a:solidFill>
                          <a:latin typeface="Calibri" pitchFamily="34" charset="0"/>
                          <a:ea typeface="Calibri" pitchFamily="34" charset="-122"/>
                          <a:cs typeface="Calibri" pitchFamily="34" charset="-120"/>
                        </a:rPr>
                        <a:t>Final evaluation and report</a:t>
                      </a:r>
                      <a:endParaRPr lang="en-US" sz="130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tc>
                  <a:txBody>
                    <a:bodyPr/>
                    <a:lstStyle/>
                    <a:p>
                      <a:pPr marL="0" indent="0">
                        <a:buNone/>
                      </a:pPr>
                      <a:r>
                        <a:rPr lang="en-IN" sz="1400" dirty="0"/>
                        <a:t>Analyse results, compare baseline models, and prepare final documentation.</a:t>
                      </a:r>
                      <a:endParaRPr lang="en-US" sz="1250" dirty="0">
                        <a:latin typeface="Calibri" charset="0"/>
                        <a:ea typeface="Calibri" charset="0"/>
                        <a:cs typeface="Calibri" charset="0"/>
                      </a:endParaRPr>
                    </a:p>
                  </a:txBody>
                  <a:tcPr marL="109728" marR="109728" marT="54864" marB="54864" anchor="ctr">
                    <a:lnL w="9525" cap="flat" cmpd="sng" algn="ctr">
                      <a:solidFill>
                        <a:srgbClr val="C9CED6"/>
                      </a:solidFill>
                      <a:prstDash val="solid"/>
                      <a:round/>
                      <a:headEnd type="none" w="med" len="med"/>
                      <a:tailEnd type="none" w="med" len="med"/>
                    </a:lnL>
                    <a:lnR w="9525" cap="flat" cmpd="sng" algn="ctr">
                      <a:solidFill>
                        <a:srgbClr val="C9CED6"/>
                      </a:solidFill>
                      <a:prstDash val="solid"/>
                      <a:round/>
                      <a:headEnd type="none" w="med" len="med"/>
                      <a:tailEnd type="none" w="med" len="med"/>
                    </a:lnR>
                    <a:lnT w="9525" cap="flat" cmpd="sng" algn="ctr">
                      <a:solidFill>
                        <a:srgbClr val="C9CED6"/>
                      </a:solidFill>
                      <a:prstDash val="solid"/>
                      <a:round/>
                      <a:headEnd type="none" w="med" len="med"/>
                      <a:tailEnd type="none" w="med" len="med"/>
                    </a:lnT>
                    <a:lnB w="9525" cap="flat" cmpd="sng" algn="ctr">
                      <a:solidFill>
                        <a:srgbClr val="C9CE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411480" y="411480"/>
            <a:ext cx="11365992" cy="6035040"/>
          </a:xfrm>
          <a:prstGeom prst="rect">
            <a:avLst/>
          </a:prstGeom>
          <a:ln w="12700">
            <a:solidFill>
              <a:srgbClr val="B08D57"/>
            </a:solidFill>
            <a:prstDash val="solid"/>
          </a:ln>
        </p:spPr>
      </p:sp>
      <p:sp>
        <p:nvSpPr>
          <p:cNvPr id="3" name="Text 1"/>
          <p:cNvSpPr txBox="1"/>
          <p:nvPr/>
        </p:nvSpPr>
        <p:spPr>
          <a:xfrm>
            <a:off x="914400" y="914400"/>
            <a:ext cx="5486400" cy="274320"/>
          </a:xfrm>
          <a:prstGeom prst="rect">
            <a:avLst/>
          </a:prstGeom>
          <a:noFill/>
          <a:ln/>
        </p:spPr>
        <p:txBody>
          <a:bodyPr wrap="square" lIns="0" tIns="0" rIns="0" bIns="0" rtlCol="0" anchor="ctr"/>
          <a:lstStyle/>
          <a:p>
            <a:pPr marL="0" indent="0">
              <a:buNone/>
            </a:pPr>
            <a:r>
              <a:rPr lang="en-US" sz="2000" b="1" kern="0" spc="300" dirty="0">
                <a:solidFill>
                  <a:srgbClr val="B08D57"/>
                </a:solidFill>
                <a:latin typeface="Calibri" pitchFamily="34" charset="0"/>
                <a:ea typeface="Calibri" pitchFamily="34" charset="-122"/>
                <a:cs typeface="Calibri" pitchFamily="34" charset="-120"/>
              </a:rPr>
              <a:t>CONCLUSION</a:t>
            </a:r>
            <a:endParaRPr lang="en-US" sz="2000" dirty="0"/>
          </a:p>
        </p:txBody>
      </p:sp>
      <p:sp>
        <p:nvSpPr>
          <p:cNvPr id="4" name="Text 2"/>
          <p:cNvSpPr txBox="1"/>
          <p:nvPr/>
        </p:nvSpPr>
        <p:spPr>
          <a:xfrm>
            <a:off x="914400" y="1605280"/>
            <a:ext cx="10360152" cy="1371600"/>
          </a:xfrm>
          <a:prstGeom prst="rect">
            <a:avLst/>
          </a:prstGeom>
          <a:noFill/>
          <a:ln/>
        </p:spPr>
        <p:txBody>
          <a:bodyPr wrap="square" lIns="0" tIns="0" rIns="0" bIns="0" rtlCol="0" anchor="t"/>
          <a:lstStyle/>
          <a:p>
            <a:r>
              <a:rPr lang="en-IN" sz="3200" b="1" dirty="0">
                <a:solidFill>
                  <a:schemeClr val="bg1"/>
                </a:solidFill>
              </a:rPr>
              <a:t>A Deep-Learning Approach to Joint OTFS Channel Estimation and Doppler Sensing</a:t>
            </a:r>
            <a:endParaRPr lang="en-US" sz="3000" b="1" dirty="0">
              <a:solidFill>
                <a:schemeClr val="bg1"/>
              </a:solidFill>
            </a:endParaRPr>
          </a:p>
        </p:txBody>
      </p:sp>
      <p:sp>
        <p:nvSpPr>
          <p:cNvPr id="5" name="Shape 3"/>
          <p:cNvSpPr/>
          <p:nvPr/>
        </p:nvSpPr>
        <p:spPr>
          <a:xfrm>
            <a:off x="914400" y="3625088"/>
            <a:ext cx="128016" cy="128016"/>
          </a:xfrm>
          <a:prstGeom prst="rect">
            <a:avLst/>
          </a:prstGeom>
          <a:solidFill>
            <a:srgbClr val="B08D57"/>
          </a:solidFill>
          <a:ln/>
        </p:spPr>
      </p:sp>
      <p:sp>
        <p:nvSpPr>
          <p:cNvPr id="6" name="Text 4"/>
          <p:cNvSpPr txBox="1"/>
          <p:nvPr/>
        </p:nvSpPr>
        <p:spPr>
          <a:xfrm>
            <a:off x="1280160" y="3515360"/>
            <a:ext cx="9628632" cy="365760"/>
          </a:xfrm>
          <a:prstGeom prst="rect">
            <a:avLst/>
          </a:prstGeom>
          <a:noFill/>
          <a:ln/>
        </p:spPr>
        <p:txBody>
          <a:bodyPr wrap="square" lIns="0" tIns="0" rIns="0" bIns="0" rtlCol="0" anchor="ctr"/>
          <a:lstStyle/>
          <a:p>
            <a:r>
              <a:rPr lang="en-IN" sz="1600" dirty="0">
                <a:solidFill>
                  <a:schemeClr val="bg1"/>
                </a:solidFill>
              </a:rPr>
              <a:t>Uses CNN layers to extract channel features from OTFS delay-Doppler data.</a:t>
            </a:r>
            <a:endParaRPr lang="en-US" sz="1500" dirty="0">
              <a:solidFill>
                <a:schemeClr val="bg1"/>
              </a:solidFill>
            </a:endParaRPr>
          </a:p>
        </p:txBody>
      </p:sp>
      <p:sp>
        <p:nvSpPr>
          <p:cNvPr id="7" name="Shape 5"/>
          <p:cNvSpPr/>
          <p:nvPr/>
        </p:nvSpPr>
        <p:spPr>
          <a:xfrm>
            <a:off x="914400" y="4310888"/>
            <a:ext cx="128016" cy="128016"/>
          </a:xfrm>
          <a:prstGeom prst="rect">
            <a:avLst/>
          </a:prstGeom>
          <a:solidFill>
            <a:srgbClr val="B08D57"/>
          </a:solidFill>
          <a:ln/>
        </p:spPr>
      </p:sp>
      <p:sp>
        <p:nvSpPr>
          <p:cNvPr id="8" name="Text 6"/>
          <p:cNvSpPr txBox="1"/>
          <p:nvPr/>
        </p:nvSpPr>
        <p:spPr>
          <a:xfrm>
            <a:off x="1280160" y="4201160"/>
            <a:ext cx="9628632" cy="365760"/>
          </a:xfrm>
          <a:prstGeom prst="rect">
            <a:avLst/>
          </a:prstGeom>
          <a:noFill/>
          <a:ln/>
        </p:spPr>
        <p:txBody>
          <a:bodyPr wrap="square" lIns="0" tIns="0" rIns="0" bIns="0" rtlCol="0" anchor="ctr"/>
          <a:lstStyle/>
          <a:p>
            <a:r>
              <a:rPr lang="en-IN" sz="1600" dirty="0">
                <a:solidFill>
                  <a:schemeClr val="bg1"/>
                </a:solidFill>
              </a:rPr>
              <a:t>Future work includes  comparative evaluation, and testing under different channel conditions.</a:t>
            </a:r>
            <a:endParaRPr lang="en-US" sz="1500" dirty="0">
              <a:solidFill>
                <a:schemeClr val="bg1"/>
              </a:solidFill>
            </a:endParaRPr>
          </a:p>
        </p:txBody>
      </p:sp>
      <p:sp>
        <p:nvSpPr>
          <p:cNvPr id="11" name="Text 9"/>
          <p:cNvSpPr txBox="1"/>
          <p:nvPr/>
        </p:nvSpPr>
        <p:spPr>
          <a:xfrm>
            <a:off x="914400" y="5486400"/>
            <a:ext cx="45720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Thank you</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A2DDE-60E0-A2F1-ACC0-9CBD8CB7762B}"/>
              </a:ext>
            </a:extLst>
          </p:cNvPr>
          <p:cNvSpPr>
            <a:spLocks noGrp="1"/>
          </p:cNvSpPr>
          <p:nvPr>
            <p:ph type="title"/>
          </p:nvPr>
        </p:nvSpPr>
        <p:spPr>
          <a:xfrm>
            <a:off x="0" y="5348"/>
            <a:ext cx="11074400" cy="1143000"/>
          </a:xfrm>
        </p:spPr>
        <p:txBody>
          <a:bodyPr/>
          <a:lstStyle/>
          <a:p>
            <a:r>
              <a:rPr lang="en-IN" dirty="0">
                <a:solidFill>
                  <a:schemeClr val="tx1"/>
                </a:solidFill>
              </a:rPr>
              <a:t>Output:</a:t>
            </a:r>
          </a:p>
        </p:txBody>
      </p:sp>
      <p:pic>
        <p:nvPicPr>
          <p:cNvPr id="4" name="Picture 3">
            <a:extLst>
              <a:ext uri="{FF2B5EF4-FFF2-40B4-BE49-F238E27FC236}">
                <a16:creationId xmlns:a16="http://schemas.microsoft.com/office/drawing/2014/main" id="{FB0F71AE-95E2-377A-FC0C-2AAA0332440F}"/>
              </a:ext>
            </a:extLst>
          </p:cNvPr>
          <p:cNvPicPr>
            <a:picLocks noChangeAspect="1"/>
          </p:cNvPicPr>
          <p:nvPr/>
        </p:nvPicPr>
        <p:blipFill>
          <a:blip r:embed="rId2"/>
          <a:stretch>
            <a:fillRect/>
          </a:stretch>
        </p:blipFill>
        <p:spPr>
          <a:xfrm>
            <a:off x="0" y="3678132"/>
            <a:ext cx="12192000" cy="2665562"/>
          </a:xfrm>
          <a:prstGeom prst="rect">
            <a:avLst/>
          </a:prstGeom>
        </p:spPr>
      </p:pic>
      <p:pic>
        <p:nvPicPr>
          <p:cNvPr id="6" name="Picture 5">
            <a:extLst>
              <a:ext uri="{FF2B5EF4-FFF2-40B4-BE49-F238E27FC236}">
                <a16:creationId xmlns:a16="http://schemas.microsoft.com/office/drawing/2014/main" id="{5B637631-16B4-4DDB-4715-3675CA4D64E0}"/>
              </a:ext>
            </a:extLst>
          </p:cNvPr>
          <p:cNvPicPr>
            <a:picLocks noChangeAspect="1"/>
          </p:cNvPicPr>
          <p:nvPr/>
        </p:nvPicPr>
        <p:blipFill>
          <a:blip r:embed="rId3"/>
          <a:stretch>
            <a:fillRect/>
          </a:stretch>
        </p:blipFill>
        <p:spPr>
          <a:xfrm>
            <a:off x="0" y="417133"/>
            <a:ext cx="4914918" cy="3205013"/>
          </a:xfrm>
          <a:prstGeom prst="rect">
            <a:avLst/>
          </a:prstGeom>
        </p:spPr>
      </p:pic>
      <p:pic>
        <p:nvPicPr>
          <p:cNvPr id="10" name="Picture 9">
            <a:extLst>
              <a:ext uri="{FF2B5EF4-FFF2-40B4-BE49-F238E27FC236}">
                <a16:creationId xmlns:a16="http://schemas.microsoft.com/office/drawing/2014/main" id="{8FE43261-04FD-7925-4042-57F83E2C0213}"/>
              </a:ext>
            </a:extLst>
          </p:cNvPr>
          <p:cNvPicPr>
            <a:picLocks noChangeAspect="1"/>
          </p:cNvPicPr>
          <p:nvPr/>
        </p:nvPicPr>
        <p:blipFill>
          <a:blip r:embed="rId4"/>
          <a:stretch>
            <a:fillRect/>
          </a:stretch>
        </p:blipFill>
        <p:spPr>
          <a:xfrm>
            <a:off x="5044422" y="686858"/>
            <a:ext cx="6625607" cy="2665562"/>
          </a:xfrm>
          <a:prstGeom prst="rect">
            <a:avLst/>
          </a:prstGeom>
        </p:spPr>
      </p:pic>
    </p:spTree>
    <p:extLst>
      <p:ext uri="{BB962C8B-B14F-4D97-AF65-F5344CB8AC3E}">
        <p14:creationId xmlns:p14="http://schemas.microsoft.com/office/powerpoint/2010/main" val="38730138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1334</TotalTime>
  <Words>837</Words>
  <Application>Microsoft Office PowerPoint</Application>
  <PresentationFormat>Widescreen</PresentationFormat>
  <Paragraphs>146</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Constantia</vt:lpstr>
      <vt:lpstr>Georgia</vt:lpstr>
      <vt:lpstr>Wingdings 2</vt: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SRIKAR PRATHAP</cp:lastModifiedBy>
  <cp:revision>4</cp:revision>
  <dcterms:created xsi:type="dcterms:W3CDTF">2026-09-28T05:48:01Z</dcterms:created>
  <dcterms:modified xsi:type="dcterms:W3CDTF">2026-09-30T02:47:41Z</dcterms:modified>
</cp:coreProperties>
</file>